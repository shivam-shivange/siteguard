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5297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6.png"/><Relationship Id="rId7" Type="http://schemas.openxmlformats.org/officeDocument/2006/relationships/image" Target="../media/image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7.png"/><Relationship Id="rId5" Type="http://schemas.openxmlformats.org/officeDocument/2006/relationships/image" Target="../media/image8.png"/><Relationship Id="rId10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81160" y="-1280160"/>
            <a:ext cx="4754880" cy="4754880"/>
          </a:xfrm>
          <a:prstGeom prst="ellipse">
            <a:avLst/>
          </a:prstGeom>
          <a:solidFill>
            <a:srgbClr val="2A2A2E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657248"/>
            <a:ext cx="1828800" cy="182880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4" name="Image 0" descr="/home/claude/safety_ppt/icons/hard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1036631"/>
            <a:ext cx="950976" cy="9509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56338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SAFETY MONITORING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993150"/>
            <a:ext cx="96286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2800" dirty="0">
                <a:solidFill>
                  <a:schemeClr val="bg1"/>
                </a:solidFill>
              </a:rPr>
              <a:t>AI-Based Personal Protective Equipment (PPE) Compliance Monitoring System for Construction Sites Using Embedded Vision and IoT</a:t>
            </a:r>
          </a:p>
        </p:txBody>
      </p:sp>
      <p:sp>
        <p:nvSpPr>
          <p:cNvPr id="7" name="Text 4"/>
          <p:cNvSpPr txBox="1"/>
          <p:nvPr/>
        </p:nvSpPr>
        <p:spPr>
          <a:xfrm>
            <a:off x="640080" y="248604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AI-based PPE detection, worker tracking, and safety monitoring — from camera feed to live dashboard.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5831820"/>
            <a:ext cx="457200" cy="457200"/>
          </a:xfrm>
          <a:prstGeom prst="ellipse">
            <a:avLst/>
          </a:prstGeom>
          <a:solidFill>
            <a:srgbClr val="E8601C"/>
          </a:solidFill>
          <a:ln/>
        </p:spPr>
      </p:sp>
      <p:pic>
        <p:nvPicPr>
          <p:cNvPr id="9" name="Image 1" descr="/home/claude/safety_ppt/icons/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94154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5831820"/>
            <a:ext cx="25176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monitoring cannot continuously observe every worker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8394192" y="5831820"/>
            <a:ext cx="457200" cy="457200"/>
          </a:xfrm>
          <a:prstGeom prst="ellipse">
            <a:avLst/>
          </a:prstGeom>
          <a:solidFill>
            <a:srgbClr val="E8601C"/>
          </a:solidFill>
          <a:ln/>
        </p:spPr>
      </p:sp>
      <p:pic>
        <p:nvPicPr>
          <p:cNvPr id="12" name="Image 2" descr="/home/claude/safety_ppt/icons/ey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594154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089882" y="5801029"/>
            <a:ext cx="2091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detects PPE violations automatically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4555578" y="5817078"/>
            <a:ext cx="457200" cy="457200"/>
          </a:xfrm>
          <a:prstGeom prst="ellipse">
            <a:avLst/>
          </a:prstGeom>
          <a:solidFill>
            <a:srgbClr val="E8601C"/>
          </a:solidFill>
          <a:ln/>
        </p:spPr>
      </p:sp>
      <p:pic>
        <p:nvPicPr>
          <p:cNvPr id="15" name="Image 3" descr="/home/claude/safety_ppt/icons/gau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5306" y="5926806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242311" y="5786287"/>
            <a:ext cx="2091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incidents flow live to a safety dashboard</a:t>
            </a:r>
            <a:endParaRPr lang="en-US" sz="13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8A3C82-9FB7-0C33-2787-F8B86BC87D9F}"/>
              </a:ext>
            </a:extLst>
          </p:cNvPr>
          <p:cNvSpPr txBox="1"/>
          <p:nvPr/>
        </p:nvSpPr>
        <p:spPr>
          <a:xfrm>
            <a:off x="1401831" y="3413365"/>
            <a:ext cx="74495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NAME 					PRN</a:t>
            </a:r>
          </a:p>
          <a:p>
            <a:r>
              <a:rPr lang="en-US" dirty="0">
                <a:solidFill>
                  <a:schemeClr val="bg1"/>
                </a:solidFill>
              </a:rPr>
              <a:t>Shivam Shivange 				123B1C064</a:t>
            </a:r>
          </a:p>
          <a:p>
            <a:r>
              <a:rPr lang="en-US" dirty="0">
                <a:solidFill>
                  <a:schemeClr val="bg1"/>
                </a:solidFill>
              </a:rPr>
              <a:t>Akhilesh </a:t>
            </a:r>
            <a:r>
              <a:rPr lang="en-US" dirty="0" err="1">
                <a:solidFill>
                  <a:schemeClr val="bg1"/>
                </a:solidFill>
              </a:rPr>
              <a:t>Mohorir</a:t>
            </a:r>
            <a:r>
              <a:rPr lang="en-US" dirty="0">
                <a:solidFill>
                  <a:schemeClr val="bg1"/>
                </a:solidFill>
              </a:rPr>
              <a:t>				123B1C048</a:t>
            </a:r>
          </a:p>
          <a:p>
            <a:r>
              <a:rPr lang="en-US" dirty="0">
                <a:solidFill>
                  <a:schemeClr val="bg1"/>
                </a:solidFill>
              </a:rPr>
              <a:t>Vinayak </a:t>
            </a:r>
            <a:r>
              <a:rPr lang="en-US" dirty="0" err="1">
                <a:solidFill>
                  <a:schemeClr val="bg1"/>
                </a:solidFill>
              </a:rPr>
              <a:t>Pawara</a:t>
            </a:r>
            <a:r>
              <a:rPr lang="en-US" dirty="0">
                <a:solidFill>
                  <a:schemeClr val="bg1"/>
                </a:solidFill>
              </a:rPr>
              <a:t>				123B1C032</a:t>
            </a:r>
          </a:p>
          <a:p>
            <a:r>
              <a:rPr lang="en-US" dirty="0" err="1">
                <a:solidFill>
                  <a:schemeClr val="bg1"/>
                </a:solidFill>
              </a:rPr>
              <a:t>Nrupendra</a:t>
            </a:r>
            <a:r>
              <a:rPr lang="en-US" dirty="0">
                <a:solidFill>
                  <a:schemeClr val="bg1"/>
                </a:solidFill>
              </a:rPr>
              <a:t> Kulkarni				123B1C016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45018A-6146-0755-B533-3F282F2EB7CB}"/>
              </a:ext>
            </a:extLst>
          </p:cNvPr>
          <p:cNvSpPr txBox="1"/>
          <p:nvPr/>
        </p:nvSpPr>
        <p:spPr>
          <a:xfrm>
            <a:off x="6416662" y="206591"/>
            <a:ext cx="2864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DEPT :- MDM - IOT</a:t>
            </a:r>
          </a:p>
          <a:p>
            <a:pPr algn="r"/>
            <a:r>
              <a:rPr lang="en-US" dirty="0">
                <a:solidFill>
                  <a:schemeClr val="bg1"/>
                </a:solidFill>
              </a:rPr>
              <a:t>Branch :- CSE(AIML)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151008-8F70-7009-6B96-CBB56582D2F4}"/>
              </a:ext>
            </a:extLst>
          </p:cNvPr>
          <p:cNvSpPr txBox="1"/>
          <p:nvPr/>
        </p:nvSpPr>
        <p:spPr>
          <a:xfrm>
            <a:off x="640080" y="5200656"/>
            <a:ext cx="3432732" cy="382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Project Guide : Dr. S. L. Tade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C1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End-to-End Architecture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1600200"/>
            <a:ext cx="1051560" cy="1051560"/>
          </a:xfrm>
          <a:prstGeom prst="ellipse">
            <a:avLst/>
          </a:prstGeom>
          <a:solidFill>
            <a:srgbClr val="00B0F0"/>
          </a:solidFill>
          <a:ln/>
        </p:spPr>
      </p:sp>
      <p:pic>
        <p:nvPicPr>
          <p:cNvPr id="5" name="Image 0" descr="/home/claude/safety_ppt/icons/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054" y="1852574"/>
            <a:ext cx="546811" cy="54681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65760" y="272491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/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ESP32-CAM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2057400" y="1979676"/>
            <a:ext cx="502920" cy="292608"/>
          </a:xfrm>
          <a:prstGeom prst="chevron">
            <a:avLst/>
          </a:prstGeom>
          <a:solidFill>
            <a:srgbClr val="C9C9C9"/>
          </a:solidFill>
          <a:ln/>
        </p:spPr>
      </p:sp>
      <p:sp>
        <p:nvSpPr>
          <p:cNvPr id="8" name="Shape 5"/>
          <p:cNvSpPr/>
          <p:nvPr/>
        </p:nvSpPr>
        <p:spPr>
          <a:xfrm>
            <a:off x="3474720" y="1600200"/>
            <a:ext cx="1051560" cy="105156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/>
        </p:spPr>
      </p:sp>
      <p:pic>
        <p:nvPicPr>
          <p:cNvPr id="9" name="Image 1" descr="/home/claude/safety_ppt/icons/wif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7094" y="1852574"/>
            <a:ext cx="546811" cy="54681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971800" y="272491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663440" y="1979676"/>
            <a:ext cx="502920" cy="292608"/>
          </a:xfrm>
          <a:prstGeom prst="chevron">
            <a:avLst/>
          </a:prstGeom>
          <a:solidFill>
            <a:srgbClr val="C9C9C9"/>
          </a:solidFill>
          <a:ln/>
        </p:spPr>
      </p:sp>
      <p:sp>
        <p:nvSpPr>
          <p:cNvPr id="12" name="Shape 8"/>
          <p:cNvSpPr/>
          <p:nvPr/>
        </p:nvSpPr>
        <p:spPr>
          <a:xfrm>
            <a:off x="6080760" y="1600200"/>
            <a:ext cx="1051560" cy="10515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/home/claude/safety_ppt/icons/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3134" y="1852574"/>
            <a:ext cx="546811" cy="54681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577840" y="272491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Server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7269480" y="1979676"/>
            <a:ext cx="502920" cy="292608"/>
          </a:xfrm>
          <a:prstGeom prst="chevron">
            <a:avLst/>
          </a:prstGeom>
          <a:solidFill>
            <a:srgbClr val="C9C9C9"/>
          </a:solidFill>
          <a:ln/>
        </p:spPr>
      </p:sp>
      <p:sp>
        <p:nvSpPr>
          <p:cNvPr id="16" name="Shape 11"/>
          <p:cNvSpPr/>
          <p:nvPr/>
        </p:nvSpPr>
        <p:spPr>
          <a:xfrm>
            <a:off x="8686800" y="1600200"/>
            <a:ext cx="1051560" cy="1051560"/>
          </a:xfrm>
          <a:prstGeom prst="ellipse">
            <a:avLst/>
          </a:prstGeom>
          <a:solidFill>
            <a:srgbClr val="E8601C"/>
          </a:solidFill>
          <a:ln/>
        </p:spPr>
      </p:sp>
      <p:pic>
        <p:nvPicPr>
          <p:cNvPr id="17" name="Image 3" descr="/home/claude/safety_ppt/icons/ey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9174" y="1852574"/>
            <a:ext cx="546811" cy="546811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183880" y="272491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9066276" y="3154680"/>
            <a:ext cx="292608" cy="457200"/>
          </a:xfrm>
          <a:prstGeom prst="downArrow">
            <a:avLst/>
          </a:prstGeom>
          <a:solidFill>
            <a:srgbClr val="C9C9C9"/>
          </a:solidFill>
          <a:ln/>
        </p:spPr>
      </p:sp>
      <p:sp>
        <p:nvSpPr>
          <p:cNvPr id="20" name="Shape 14"/>
          <p:cNvSpPr/>
          <p:nvPr/>
        </p:nvSpPr>
        <p:spPr>
          <a:xfrm>
            <a:off x="868680" y="3977640"/>
            <a:ext cx="1051560" cy="10515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4" descr="/home/claude/safety_ppt/icons/gau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1054" y="4230014"/>
            <a:ext cx="546811" cy="546811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365760" y="510235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 rot="10800000">
            <a:off x="2057400" y="4357116"/>
            <a:ext cx="502920" cy="292608"/>
          </a:xfrm>
          <a:prstGeom prst="chevron">
            <a:avLst/>
          </a:prstGeom>
          <a:solidFill>
            <a:srgbClr val="C9C9C9"/>
          </a:solidFill>
          <a:ln/>
        </p:spPr>
      </p:sp>
      <p:sp>
        <p:nvSpPr>
          <p:cNvPr id="24" name="Shape 17"/>
          <p:cNvSpPr/>
          <p:nvPr/>
        </p:nvSpPr>
        <p:spPr>
          <a:xfrm>
            <a:off x="3474720" y="3977640"/>
            <a:ext cx="1051560" cy="105156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25" name="Image 5" descr="/home/claude/safety_ppt/icons/ale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17036" y="4207154"/>
            <a:ext cx="546811" cy="546811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2971800" y="510235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250" dirty="0"/>
          </a:p>
        </p:txBody>
      </p:sp>
      <p:sp>
        <p:nvSpPr>
          <p:cNvPr id="27" name="Shape 19"/>
          <p:cNvSpPr/>
          <p:nvPr/>
        </p:nvSpPr>
        <p:spPr>
          <a:xfrm rot="10800000">
            <a:off x="4663440" y="4357116"/>
            <a:ext cx="502920" cy="292608"/>
          </a:xfrm>
          <a:prstGeom prst="chevron">
            <a:avLst/>
          </a:prstGeom>
          <a:solidFill>
            <a:srgbClr val="C9C9C9"/>
          </a:solidFill>
          <a:ln/>
        </p:spPr>
      </p:sp>
      <p:sp>
        <p:nvSpPr>
          <p:cNvPr id="28" name="Shape 20"/>
          <p:cNvSpPr/>
          <p:nvPr/>
        </p:nvSpPr>
        <p:spPr>
          <a:xfrm>
            <a:off x="6080760" y="3977640"/>
            <a:ext cx="1051560" cy="105156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29" name="Image 6" descr="/home/claude/safety_ppt/icons/gave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3134" y="4230014"/>
            <a:ext cx="546811" cy="546811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5577840" y="510235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Rule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250" dirty="0"/>
          </a:p>
        </p:txBody>
      </p:sp>
      <p:sp>
        <p:nvSpPr>
          <p:cNvPr id="31" name="Shape 22"/>
          <p:cNvSpPr/>
          <p:nvPr/>
        </p:nvSpPr>
        <p:spPr>
          <a:xfrm rot="10800000">
            <a:off x="7269480" y="4357116"/>
            <a:ext cx="502920" cy="292608"/>
          </a:xfrm>
          <a:prstGeom prst="chevron">
            <a:avLst/>
          </a:prstGeom>
          <a:solidFill>
            <a:srgbClr val="C9C9C9"/>
          </a:solidFill>
          <a:ln/>
        </p:spPr>
      </p:sp>
      <p:sp>
        <p:nvSpPr>
          <p:cNvPr id="32" name="Shape 23"/>
          <p:cNvSpPr/>
          <p:nvPr/>
        </p:nvSpPr>
        <p:spPr>
          <a:xfrm>
            <a:off x="8686800" y="3977640"/>
            <a:ext cx="1051560" cy="1051560"/>
          </a:xfrm>
          <a:prstGeom prst="ellipse">
            <a:avLst/>
          </a:prstGeom>
          <a:solidFill>
            <a:srgbClr val="E8601C"/>
          </a:solidFill>
          <a:ln/>
        </p:spPr>
      </p:sp>
      <p:pic>
        <p:nvPicPr>
          <p:cNvPr id="33" name="Image 7" descr="/home/claude/safety_ppt/icons/crosshair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39174" y="4230014"/>
            <a:ext cx="546811" cy="546811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8183880" y="510235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</a:t>
            </a:r>
            <a:endParaRPr lang="en-US" sz="1250" dirty="0"/>
          </a:p>
        </p:txBody>
      </p:sp>
      <p:sp>
        <p:nvSpPr>
          <p:cNvPr id="35" name="Text 2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/ ESP32-CAM  →  WI-FI  →  PC SERVER  →  YOLO  →  BYTETRACK  →  SAFETY RULES  →  INCIDENT  → 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C1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Acquisition &amp; Preprocessing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" y="173736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safety_ppt/icons/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456" y="1956816"/>
            <a:ext cx="475488" cy="4754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329184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58368" y="3383280"/>
            <a:ext cx="1883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webcam for prototyping, or ESP32-CAM as the IoT capture device.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660904" y="2075688"/>
            <a:ext cx="146304" cy="237744"/>
          </a:xfrm>
          <a:prstGeom prst="chevron">
            <a:avLst/>
          </a:prstGeom>
          <a:solidFill>
            <a:srgbClr val="D5D5D5"/>
          </a:solidFill>
          <a:ln/>
        </p:spPr>
      </p:sp>
      <p:sp>
        <p:nvSpPr>
          <p:cNvPr id="10" name="Shape 7"/>
          <p:cNvSpPr/>
          <p:nvPr/>
        </p:nvSpPr>
        <p:spPr>
          <a:xfrm>
            <a:off x="3410712" y="1737360"/>
            <a:ext cx="914400" cy="914400"/>
          </a:xfrm>
          <a:prstGeom prst="ellipse">
            <a:avLst/>
          </a:prstGeom>
          <a:solidFill>
            <a:srgbClr val="E8601C"/>
          </a:solidFill>
          <a:ln/>
        </p:spPr>
      </p:sp>
      <p:pic>
        <p:nvPicPr>
          <p:cNvPr id="11" name="Image 1" descr="/home/claude/safety_ppt/icons/wif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168" y="1956816"/>
            <a:ext cx="475488" cy="4754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816352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Transmission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2816352" y="329184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F2F2F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2926080" y="3383280"/>
            <a:ext cx="1883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ESP32-CAM streams captured frames to the PC server over Wi-Fi.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928616" y="2075688"/>
            <a:ext cx="146304" cy="237744"/>
          </a:xfrm>
          <a:prstGeom prst="chevron">
            <a:avLst/>
          </a:prstGeom>
          <a:solidFill>
            <a:srgbClr val="D5D5D5"/>
          </a:solidFill>
          <a:ln/>
        </p:spPr>
      </p:sp>
      <p:sp>
        <p:nvSpPr>
          <p:cNvPr id="16" name="Shape 12"/>
          <p:cNvSpPr/>
          <p:nvPr/>
        </p:nvSpPr>
        <p:spPr>
          <a:xfrm>
            <a:off x="5678424" y="173736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/home/claude/safety_ppt/icons/vide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1956816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084064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Capture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084064" y="329184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F2F2F2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5193792" y="3383280"/>
            <a:ext cx="1883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receives and decodes incoming image data continuously.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7196328" y="2075688"/>
            <a:ext cx="146304" cy="237744"/>
          </a:xfrm>
          <a:prstGeom prst="chevron">
            <a:avLst/>
          </a:prstGeom>
          <a:solidFill>
            <a:srgbClr val="D5D5D5"/>
          </a:solidFill>
          <a:ln/>
        </p:spPr>
      </p:sp>
      <p:sp>
        <p:nvSpPr>
          <p:cNvPr id="22" name="Shape 17"/>
          <p:cNvSpPr/>
          <p:nvPr/>
        </p:nvSpPr>
        <p:spPr>
          <a:xfrm>
            <a:off x="7946136" y="1737360"/>
            <a:ext cx="914400" cy="914400"/>
          </a:xfrm>
          <a:prstGeom prst="ellipse">
            <a:avLst/>
          </a:prstGeom>
          <a:solidFill>
            <a:srgbClr val="E8601C"/>
          </a:solidFill>
          <a:ln/>
        </p:spPr>
      </p:sp>
      <p:pic>
        <p:nvPicPr>
          <p:cNvPr id="23" name="Image 3" descr="/home/claude/safety_ppt/icons/co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5592" y="1956816"/>
            <a:ext cx="475488" cy="47548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351776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Processing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7351776" y="329184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F2F2F2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7461504" y="3383280"/>
            <a:ext cx="1883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Resize, preprocess, and control frame rate before inference.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9464040" y="2075688"/>
            <a:ext cx="146304" cy="237744"/>
          </a:xfrm>
          <a:prstGeom prst="chevron">
            <a:avLst/>
          </a:prstGeom>
          <a:solidFill>
            <a:srgbClr val="D5D5D5"/>
          </a:solidFill>
          <a:ln/>
        </p:spPr>
      </p:sp>
      <p:sp>
        <p:nvSpPr>
          <p:cNvPr id="28" name="Shape 22"/>
          <p:cNvSpPr/>
          <p:nvPr/>
        </p:nvSpPr>
        <p:spPr>
          <a:xfrm>
            <a:off x="10213848" y="173736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9" name="Image 4" descr="/home/claude/safety_ppt/icons/cub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33304" y="1956816"/>
            <a:ext cx="475488" cy="47548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619488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Preparation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9619488" y="329184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F2F2F2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9729216" y="3383280"/>
            <a:ext cx="1883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frames (5-10 FPS) are handed to the AI detection model.</a:t>
            </a:r>
            <a:endParaRPr lang="en-US" sz="1050" dirty="0"/>
          </a:p>
        </p:txBody>
      </p:sp>
      <p:sp>
        <p:nvSpPr>
          <p:cNvPr id="33" name="Text 26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captures 25-30 FPS; AI inference runs on a reduced 5-10 FPS to cut unnecessary compute.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 Detection &amp; Worker Tracking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960120" cy="9601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safety_ppt/icons/vide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9" y="2104949"/>
            <a:ext cx="499262" cy="49926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20040" y="294436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Frame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1673352" y="2235708"/>
            <a:ext cx="292608" cy="237744"/>
          </a:xfrm>
          <a:prstGeom prst="chevron">
            <a:avLst/>
          </a:prstGeom>
          <a:solidFill>
            <a:srgbClr val="5A5A5E"/>
          </a:solidFill>
          <a:ln/>
        </p:spPr>
      </p:sp>
      <p:sp>
        <p:nvSpPr>
          <p:cNvPr id="8" name="Shape 5"/>
          <p:cNvSpPr/>
          <p:nvPr/>
        </p:nvSpPr>
        <p:spPr>
          <a:xfrm>
            <a:off x="2057400" y="1874520"/>
            <a:ext cx="960120" cy="960120"/>
          </a:xfrm>
          <a:prstGeom prst="ellipse">
            <a:avLst/>
          </a:prstGeom>
          <a:solidFill>
            <a:srgbClr val="E8601C"/>
          </a:solidFill>
          <a:ln/>
        </p:spPr>
      </p:sp>
      <p:pic>
        <p:nvPicPr>
          <p:cNvPr id="9" name="Image 1" descr="/home/claude/safety_ppt/icons/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7829" y="2104949"/>
            <a:ext cx="499262" cy="49926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37360" y="294436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Model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090672" y="2235708"/>
            <a:ext cx="292608" cy="237744"/>
          </a:xfrm>
          <a:prstGeom prst="chevron">
            <a:avLst/>
          </a:prstGeom>
          <a:solidFill>
            <a:srgbClr val="5A5A5E"/>
          </a:solidFill>
          <a:ln/>
        </p:spPr>
      </p:sp>
      <p:sp>
        <p:nvSpPr>
          <p:cNvPr id="12" name="Shape 8"/>
          <p:cNvSpPr/>
          <p:nvPr/>
        </p:nvSpPr>
        <p:spPr>
          <a:xfrm>
            <a:off x="3474720" y="1874520"/>
            <a:ext cx="960120" cy="9601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/home/claude/safety_ppt/icons/hardh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5149" y="2104949"/>
            <a:ext cx="499262" cy="49926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154680" y="294436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+ Helmet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Vest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507992" y="2235708"/>
            <a:ext cx="292608" cy="237744"/>
          </a:xfrm>
          <a:prstGeom prst="chevron">
            <a:avLst/>
          </a:prstGeom>
          <a:solidFill>
            <a:srgbClr val="5A5A5E"/>
          </a:solidFill>
          <a:ln/>
        </p:spPr>
      </p:sp>
      <p:sp>
        <p:nvSpPr>
          <p:cNvPr id="16" name="Shape 11"/>
          <p:cNvSpPr/>
          <p:nvPr/>
        </p:nvSpPr>
        <p:spPr>
          <a:xfrm>
            <a:off x="4892040" y="1874520"/>
            <a:ext cx="960120" cy="96012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17" name="Image 3" descr="/home/claude/safety_ppt/icons/crosshai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2469" y="2104949"/>
            <a:ext cx="499262" cy="49926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572000" y="294436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5925312" y="2235708"/>
            <a:ext cx="292608" cy="237744"/>
          </a:xfrm>
          <a:prstGeom prst="chevron">
            <a:avLst/>
          </a:prstGeom>
          <a:solidFill>
            <a:srgbClr val="5A5A5E"/>
          </a:solidFill>
          <a:ln/>
        </p:spPr>
      </p:sp>
      <p:sp>
        <p:nvSpPr>
          <p:cNvPr id="20" name="Shape 14"/>
          <p:cNvSpPr/>
          <p:nvPr/>
        </p:nvSpPr>
        <p:spPr>
          <a:xfrm>
            <a:off x="6309360" y="1874520"/>
            <a:ext cx="960120" cy="9601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4" descr="/home/claude/safety_ppt/icons/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9789" y="2104949"/>
            <a:ext cx="499262" cy="49926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989320" y="294436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IDs</a:t>
            </a:r>
            <a:endParaRPr lang="en-US" sz="1150" dirty="0"/>
          </a:p>
        </p:txBody>
      </p:sp>
      <p:sp>
        <p:nvSpPr>
          <p:cNvPr id="23" name="Text 16"/>
          <p:cNvSpPr txBox="1"/>
          <p:nvPr/>
        </p:nvSpPr>
        <p:spPr>
          <a:xfrm>
            <a:off x="640080" y="3794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lets the system reason about individual workers over time, instead of treating every frame as brand new.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8138160" y="1737360"/>
            <a:ext cx="3429000" cy="4480560"/>
          </a:xfrm>
          <a:prstGeom prst="roundRect">
            <a:avLst>
              <a:gd name="adj" fmla="val 2667"/>
            </a:avLst>
          </a:prstGeom>
          <a:solidFill>
            <a:srgbClr val="2A2A2E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8412480" y="1920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OUTPUT</a:t>
            </a:r>
            <a:endParaRPr lang="en-US" sz="1100" dirty="0"/>
          </a:p>
        </p:txBody>
      </p:sp>
      <p:sp>
        <p:nvSpPr>
          <p:cNvPr id="26" name="Text 19"/>
          <p:cNvSpPr txBox="1"/>
          <p:nvPr/>
        </p:nvSpPr>
        <p:spPr>
          <a:xfrm>
            <a:off x="8412480" y="24231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#12
</a:t>
            </a:r>
            <a:r>
              <a:rPr lang="en-US" sz="12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 →  </a:t>
            </a:r>
            <a:r>
              <a:rPr lang="en-US" sz="1250" b="1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
</a:t>
            </a:r>
            <a:r>
              <a:rPr lang="en-US" sz="12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      →  </a:t>
            </a:r>
            <a:r>
              <a:rPr lang="en-US" sz="1250" b="1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Goggles      →  </a:t>
            </a:r>
            <a:r>
              <a:rPr lang="en-US" sz="1400" b="1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8412480" y="3749040"/>
            <a:ext cx="2880360" cy="0"/>
          </a:xfrm>
          <a:prstGeom prst="line">
            <a:avLst/>
          </a:prstGeom>
          <a:noFill/>
          <a:ln w="12700">
            <a:solidFill>
              <a:srgbClr val="444448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8412480" y="397764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#18
</a:t>
            </a:r>
            <a:r>
              <a:rPr lang="en-US" sz="12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 →  </a:t>
            </a:r>
            <a:r>
              <a:rPr lang="en-US" sz="125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DETECTED
</a:t>
            </a:r>
            <a:r>
              <a:rPr lang="en-US" sz="12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      →  </a:t>
            </a:r>
            <a:r>
              <a:rPr lang="en-US" sz="1250" b="1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Goggles      →  </a:t>
            </a:r>
            <a:r>
              <a:rPr lang="en-US" sz="1400" b="1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8412480" y="5394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object carries a bounding box, class, and confidence score every frame.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C1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Safety Rule Engine &amp; Violation Confirmation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safety_ppt/icons/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8" y="187817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733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2011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per-frame YOLO output for a tracked worker.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928116" y="2514600"/>
            <a:ext cx="201168" cy="320040"/>
          </a:xfrm>
          <a:prstGeom prst="downArrow">
            <a:avLst/>
          </a:prstGeom>
          <a:solidFill>
            <a:srgbClr val="D5D5D5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2587752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safety_ppt/icons/crosshai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18" y="2774290"/>
            <a:ext cx="404165" cy="40416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45920" y="256946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645920" y="290779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identity held consistent across frames.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928116" y="3410712"/>
            <a:ext cx="201168" cy="320040"/>
          </a:xfrm>
          <a:prstGeom prst="downArrow">
            <a:avLst/>
          </a:prstGeom>
          <a:solidFill>
            <a:srgbClr val="D5D5D5"/>
          </a:solidFill>
          <a:ln/>
        </p:spPr>
      </p:sp>
      <p:sp>
        <p:nvSpPr>
          <p:cNvPr id="14" name="Shape 10"/>
          <p:cNvSpPr/>
          <p:nvPr/>
        </p:nvSpPr>
        <p:spPr>
          <a:xfrm>
            <a:off x="640080" y="3483864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/home/claude/safety_ppt/icons/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8" y="3670402"/>
            <a:ext cx="404165" cy="40416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45920" y="34655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Check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1645920" y="380390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 must hold across consecutive frames.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928116" y="4306824"/>
            <a:ext cx="201168" cy="320040"/>
          </a:xfrm>
          <a:prstGeom prst="downArrow">
            <a:avLst/>
          </a:prstGeom>
          <a:solidFill>
            <a:srgbClr val="D5D5D5"/>
          </a:solidFill>
          <a:ln/>
        </p:spPr>
      </p:sp>
      <p:sp>
        <p:nvSpPr>
          <p:cNvPr id="19" name="Shape 14"/>
          <p:cNvSpPr/>
          <p:nvPr/>
        </p:nvSpPr>
        <p:spPr>
          <a:xfrm>
            <a:off x="640080" y="4379976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3" descr="/home/claude/safety_ppt/icons/gav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618" y="4566514"/>
            <a:ext cx="404165" cy="40416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45920" y="43616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Cooldown / Duplicate Check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1645920" y="47000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repeat alerts for the same ongoing event.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928116" y="5202936"/>
            <a:ext cx="201168" cy="320040"/>
          </a:xfrm>
          <a:prstGeom prst="downArrow">
            <a:avLst/>
          </a:prstGeom>
          <a:solidFill>
            <a:srgbClr val="D5D5D5"/>
          </a:solidFill>
          <a:ln/>
        </p:spPr>
      </p:sp>
      <p:sp>
        <p:nvSpPr>
          <p:cNvPr id="24" name="Shape 18"/>
          <p:cNvSpPr/>
          <p:nvPr/>
        </p:nvSpPr>
        <p:spPr>
          <a:xfrm>
            <a:off x="640080" y="5276088"/>
            <a:ext cx="777240" cy="777240"/>
          </a:xfrm>
          <a:prstGeom prst="ellipse">
            <a:avLst/>
          </a:prstGeom>
          <a:solidFill>
            <a:srgbClr val="E8601C"/>
          </a:solidFill>
          <a:ln/>
        </p:spPr>
      </p:sp>
      <p:pic>
        <p:nvPicPr>
          <p:cNvPr id="25" name="Image 4" descr="/home/claude/safety_ppt/icons/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618" y="5462626"/>
            <a:ext cx="404165" cy="40416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645920" y="5257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 Confirmed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1645920" y="55961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 incident is created, not a false alarm.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4663440" y="1691640"/>
            <a:ext cx="6949440" cy="4434840"/>
          </a:xfrm>
          <a:prstGeom prst="roundRect">
            <a:avLst>
              <a:gd name="adj" fmla="val 2062"/>
            </a:avLst>
          </a:prstGeom>
          <a:solidFill>
            <a:srgbClr val="1C1C1E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4937760" y="1920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5029200" y="2468880"/>
            <a:ext cx="6217920" cy="566928"/>
          </a:xfrm>
          <a:prstGeom prst="roundRect">
            <a:avLst>
              <a:gd name="adj" fmla="val 9677"/>
            </a:avLst>
          </a:prstGeom>
          <a:solidFill>
            <a:srgbClr val="2A2A2E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5029200" y="2468880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#12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5029200" y="303580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9A9E"/>
                </a:solidFill>
              </a:rPr>
              <a:t>↓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5029200" y="3291840"/>
            <a:ext cx="6217920" cy="566928"/>
          </a:xfrm>
          <a:prstGeom prst="roundRect">
            <a:avLst>
              <a:gd name="adj" fmla="val 9677"/>
            </a:avLst>
          </a:prstGeom>
          <a:solidFill>
            <a:srgbClr val="2A2A2E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5029200" y="3291840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Helmet</a:t>
            </a:r>
            <a:endParaRPr lang="en-US" sz="1400" dirty="0"/>
          </a:p>
        </p:txBody>
      </p:sp>
      <p:sp>
        <p:nvSpPr>
          <p:cNvPr id="35" name="Text 28"/>
          <p:cNvSpPr txBox="1"/>
          <p:nvPr/>
        </p:nvSpPr>
        <p:spPr>
          <a:xfrm>
            <a:off x="5029200" y="385876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9A9E"/>
                </a:solidFill>
              </a:rPr>
              <a:t>↓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5029200" y="4114800"/>
            <a:ext cx="6217920" cy="566928"/>
          </a:xfrm>
          <a:prstGeom prst="roundRect">
            <a:avLst>
              <a:gd name="adj" fmla="val 9677"/>
            </a:avLst>
          </a:prstGeom>
          <a:solidFill>
            <a:srgbClr val="2A2A2E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5029200" y="4114800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(6+ frames)</a:t>
            </a:r>
            <a:endParaRPr lang="en-US" sz="1400" dirty="0"/>
          </a:p>
        </p:txBody>
      </p:sp>
      <p:sp>
        <p:nvSpPr>
          <p:cNvPr id="38" name="Text 31"/>
          <p:cNvSpPr txBox="1"/>
          <p:nvPr/>
        </p:nvSpPr>
        <p:spPr>
          <a:xfrm>
            <a:off x="5029200" y="468172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9A9E"/>
                </a:solidFill>
              </a:rPr>
              <a:t>↓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5029200" y="4937760"/>
            <a:ext cx="6217920" cy="566928"/>
          </a:xfrm>
          <a:prstGeom prst="roundRect">
            <a:avLst>
              <a:gd name="adj" fmla="val 9677"/>
            </a:avLst>
          </a:prstGeom>
          <a:solidFill>
            <a:srgbClr val="E8601C"/>
          </a:solidFill>
          <a:ln/>
        </p:spPr>
      </p:sp>
      <p:sp>
        <p:nvSpPr>
          <p:cNvPr id="40" name="Text 33"/>
          <p:cNvSpPr txBox="1"/>
          <p:nvPr/>
        </p:nvSpPr>
        <p:spPr>
          <a:xfrm>
            <a:off x="5029200" y="4937760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Incident</a:t>
            </a:r>
            <a:endParaRPr lang="en-US" sz="1400" dirty="0"/>
          </a:p>
        </p:txBody>
      </p:sp>
      <p:sp>
        <p:nvSpPr>
          <p:cNvPr id="41" name="Text 34"/>
          <p:cNvSpPr txBox="1"/>
          <p:nvPr/>
        </p:nvSpPr>
        <p:spPr>
          <a:xfrm>
            <a:off x="4937760" y="5715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missed-frame detection never creates an incident on its own — only a persistent, confirmed violation does.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C1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Incident Management &amp; Real-Time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68680" cy="868680"/>
          </a:xfrm>
          <a:prstGeom prst="ellipse">
            <a:avLst/>
          </a:prstGeom>
          <a:solidFill>
            <a:srgbClr val="E8601C"/>
          </a:solidFill>
          <a:ln/>
        </p:spPr>
      </p:sp>
      <p:pic>
        <p:nvPicPr>
          <p:cNvPr id="5" name="Image 0" descr="/home/claude/safety_ppt/icons/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23" y="1900123"/>
            <a:ext cx="451714" cy="4517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" y="26517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554480" y="2007108"/>
            <a:ext cx="457200" cy="237744"/>
          </a:xfrm>
          <a:prstGeom prst="chevron">
            <a:avLst/>
          </a:prstGeom>
          <a:solidFill>
            <a:srgbClr val="D5D5D5"/>
          </a:solidFill>
          <a:ln/>
        </p:spPr>
      </p:sp>
      <p:sp>
        <p:nvSpPr>
          <p:cNvPr id="8" name="Shape 5"/>
          <p:cNvSpPr/>
          <p:nvPr/>
        </p:nvSpPr>
        <p:spPr>
          <a:xfrm>
            <a:off x="2761488" y="169164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/home/claude/safety_ppt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9971" y="1900123"/>
            <a:ext cx="451714" cy="45171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304288" y="26517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767328" y="2007108"/>
            <a:ext cx="457200" cy="237744"/>
          </a:xfrm>
          <a:prstGeom prst="chevron">
            <a:avLst/>
          </a:prstGeom>
          <a:solidFill>
            <a:srgbClr val="D5D5D5"/>
          </a:solidFill>
          <a:ln/>
        </p:spPr>
      </p:sp>
      <p:sp>
        <p:nvSpPr>
          <p:cNvPr id="12" name="Shape 8"/>
          <p:cNvSpPr/>
          <p:nvPr/>
        </p:nvSpPr>
        <p:spPr>
          <a:xfrm>
            <a:off x="4974336" y="169164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/home/claude/safety_ppt/icons/camer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2819" y="1900123"/>
            <a:ext cx="451714" cy="45171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517136" y="26517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(Screenshot/Clip)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80176" y="2007108"/>
            <a:ext cx="457200" cy="237744"/>
          </a:xfrm>
          <a:prstGeom prst="chevron">
            <a:avLst/>
          </a:prstGeom>
          <a:solidFill>
            <a:srgbClr val="D5D5D5"/>
          </a:solidFill>
          <a:ln/>
        </p:spPr>
      </p:sp>
      <p:sp>
        <p:nvSpPr>
          <p:cNvPr id="16" name="Shape 11"/>
          <p:cNvSpPr/>
          <p:nvPr/>
        </p:nvSpPr>
        <p:spPr>
          <a:xfrm>
            <a:off x="7187184" y="169164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3" descr="/home/claude/safety_ppt/icons/serv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5667" y="1900123"/>
            <a:ext cx="451714" cy="45171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729984" y="26517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8193024" y="2007108"/>
            <a:ext cx="457200" cy="237744"/>
          </a:xfrm>
          <a:prstGeom prst="chevron">
            <a:avLst/>
          </a:prstGeom>
          <a:solidFill>
            <a:srgbClr val="D5D5D5"/>
          </a:solidFill>
          <a:ln/>
        </p:spPr>
      </p:sp>
      <p:sp>
        <p:nvSpPr>
          <p:cNvPr id="20" name="Shape 14"/>
          <p:cNvSpPr/>
          <p:nvPr/>
        </p:nvSpPr>
        <p:spPr>
          <a:xfrm>
            <a:off x="9400032" y="1691640"/>
            <a:ext cx="868680" cy="86868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21" name="Image 4" descr="/home/claude/safety_ppt/icons/gau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8515" y="1900123"/>
            <a:ext cx="451714" cy="45171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942832" y="26517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548640" y="3429000"/>
            <a:ext cx="11064240" cy="2743200"/>
          </a:xfrm>
          <a:prstGeom prst="roundRect">
            <a:avLst>
              <a:gd name="adj" fmla="val 2667"/>
            </a:avLst>
          </a:prstGeom>
          <a:solidFill>
            <a:srgbClr val="1C1C1E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822960" y="35935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SAFETY DASHBOARD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822960" y="4023360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2A2A2E"/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822960" y="409651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600" dirty="0"/>
          </a:p>
        </p:txBody>
      </p:sp>
      <p:sp>
        <p:nvSpPr>
          <p:cNvPr id="27" name="Text 20"/>
          <p:cNvSpPr txBox="1"/>
          <p:nvPr/>
        </p:nvSpPr>
        <p:spPr>
          <a:xfrm>
            <a:off x="822960" y="459028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B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3474720" y="4023360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2A2A2E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3474720" y="409651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2600" dirty="0"/>
          </a:p>
        </p:txBody>
      </p:sp>
      <p:sp>
        <p:nvSpPr>
          <p:cNvPr id="30" name="Text 23"/>
          <p:cNvSpPr txBox="1"/>
          <p:nvPr/>
        </p:nvSpPr>
        <p:spPr>
          <a:xfrm>
            <a:off x="3474720" y="459028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B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Compliance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126480" y="4023360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2A2A2E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6126480" y="409651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2600" dirty="0"/>
          </a:p>
        </p:txBody>
      </p:sp>
      <p:sp>
        <p:nvSpPr>
          <p:cNvPr id="33" name="Text 26"/>
          <p:cNvSpPr txBox="1"/>
          <p:nvPr/>
        </p:nvSpPr>
        <p:spPr>
          <a:xfrm>
            <a:off x="6126480" y="459028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B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 Compliance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8778240" y="4023360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2A2A2E"/>
          </a:solidFill>
          <a:ln/>
        </p:spPr>
      </p:sp>
      <p:sp>
        <p:nvSpPr>
          <p:cNvPr id="35" name="Text 28"/>
          <p:cNvSpPr txBox="1"/>
          <p:nvPr/>
        </p:nvSpPr>
        <p:spPr>
          <a:xfrm>
            <a:off x="8778240" y="409651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36" name="Text 29"/>
          <p:cNvSpPr txBox="1"/>
          <p:nvPr/>
        </p:nvSpPr>
        <p:spPr>
          <a:xfrm>
            <a:off x="8778240" y="459028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B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Violations</a:t>
            </a:r>
            <a:endParaRPr lang="en-US" sz="1000" dirty="0"/>
          </a:p>
        </p:txBody>
      </p:sp>
      <p:sp>
        <p:nvSpPr>
          <p:cNvPr id="37" name="Text 30"/>
          <p:cNvSpPr txBox="1"/>
          <p:nvPr/>
        </p:nvSpPr>
        <p:spPr>
          <a:xfrm>
            <a:off x="822960" y="5074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SAFETY INCIDENTS</a:t>
            </a:r>
            <a:endParaRPr lang="en-US" sz="1050" dirty="0"/>
          </a:p>
        </p:txBody>
      </p:sp>
      <p:sp>
        <p:nvSpPr>
          <p:cNvPr id="38" name="Text 31"/>
          <p:cNvSpPr txBox="1"/>
          <p:nvPr/>
        </p:nvSpPr>
        <p:spPr>
          <a:xfrm>
            <a:off x="822960" y="53766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Worker #12 — No Helmet          ⚠ Worker #07 — No Safety Vest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C1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Testing, Deployment &amp; 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" y="2103120"/>
            <a:ext cx="8595360" cy="0"/>
          </a:xfrm>
          <a:prstGeom prst="line">
            <a:avLst/>
          </a:prstGeom>
          <a:noFill/>
          <a:ln w="25400">
            <a:solidFill>
              <a:srgbClr val="D5D5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2514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Webcam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71800" y="1783080"/>
            <a:ext cx="640080" cy="64008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7180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2514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20640" y="1783080"/>
            <a:ext cx="640080" cy="64008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2064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514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ESP32-CAM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69480" y="1783080"/>
            <a:ext cx="640080" cy="64008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6948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2514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Construction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Footage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418320" y="1783080"/>
            <a:ext cx="640080" cy="640080"/>
          </a:xfrm>
          <a:prstGeom prst="ellipse">
            <a:avLst/>
          </a:prstGeom>
          <a:solidFill>
            <a:srgbClr val="E8601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41832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915400" y="2514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/ Edge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337560"/>
            <a:ext cx="5394960" cy="2880360"/>
          </a:xfrm>
          <a:prstGeom prst="roundRect">
            <a:avLst>
              <a:gd name="adj" fmla="val 2540"/>
            </a:avLst>
          </a:prstGeom>
          <a:solidFill>
            <a:srgbClr val="F2F2F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35021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FOCUS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3904488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0" descr="/home/claude/safety_ppt/icons/v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353" y="3987881"/>
            <a:ext cx="180685" cy="180685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298448" y="390448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— precision, recall, mAP, F1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822960" y="4361688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1" descr="/home/claude/safety_ppt/icons/crosshai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353" y="4445081"/>
            <a:ext cx="180685" cy="180685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1298448" y="436168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stability — ID consistency, ID switches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822960" y="4818888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9" name="Image 2" descr="/home/claude/safety_ppt/icons/gav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353" y="4902281"/>
            <a:ext cx="180685" cy="180685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1298448" y="481888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alarms, missed &amp; duplicate violations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822960" y="5276088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2" name="Image 3" descr="/home/claude/safety_ppt/icons/c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353" y="5359481"/>
            <a:ext cx="180685" cy="180685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298448" y="527608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frame rate, CPU/GPU &amp; network load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822960" y="5733288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5" name="Image 4" descr="/home/claude/safety_ppt/icons/ey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353" y="5816681"/>
            <a:ext cx="180685" cy="180685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1298448" y="573328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— low light, occlusion, weather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6217920" y="3337560"/>
            <a:ext cx="5394960" cy="2880360"/>
          </a:xfrm>
          <a:prstGeom prst="roundRect">
            <a:avLst>
              <a:gd name="adj" fmla="val 2540"/>
            </a:avLst>
          </a:prstGeom>
          <a:solidFill>
            <a:srgbClr val="1C1C1E"/>
          </a:solidFill>
          <a:ln/>
        </p:spPr>
      </p:sp>
      <p:sp>
        <p:nvSpPr>
          <p:cNvPr id="38" name="Text 31"/>
          <p:cNvSpPr txBox="1"/>
          <p:nvPr/>
        </p:nvSpPr>
        <p:spPr>
          <a:xfrm>
            <a:off x="6492240" y="35021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6492240" y="3904488"/>
            <a:ext cx="347472" cy="347472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40" name="Image 5" descr="/home/claude/safety_ppt/icons/shie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5633" y="3987881"/>
            <a:ext cx="180685" cy="180685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6967728" y="390448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Restricted-zone entry &amp; machinery proximity</a:t>
            </a:r>
            <a:endParaRPr lang="en-US" sz="1050" dirty="0"/>
          </a:p>
        </p:txBody>
      </p:sp>
      <p:sp>
        <p:nvSpPr>
          <p:cNvPr id="42" name="Shape 34"/>
          <p:cNvSpPr/>
          <p:nvPr/>
        </p:nvSpPr>
        <p:spPr>
          <a:xfrm>
            <a:off x="6492240" y="4361688"/>
            <a:ext cx="347472" cy="347472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43" name="Image 6" descr="/home/claude/safety_ppt/icons/ale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5633" y="4445081"/>
            <a:ext cx="180685" cy="180685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6967728" y="436168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detection &amp; unsafe posture</a:t>
            </a:r>
            <a:endParaRPr lang="en-US" sz="1050" dirty="0"/>
          </a:p>
        </p:txBody>
      </p:sp>
      <p:sp>
        <p:nvSpPr>
          <p:cNvPr id="45" name="Shape 36"/>
          <p:cNvSpPr/>
          <p:nvPr/>
        </p:nvSpPr>
        <p:spPr>
          <a:xfrm>
            <a:off x="6492240" y="4818888"/>
            <a:ext cx="347472" cy="347472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46" name="Image 7" descr="/home/claude/safety_ppt/icons/camer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5633" y="4902281"/>
            <a:ext cx="180685" cy="180685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6967728" y="481888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monitoring across a site</a:t>
            </a:r>
            <a:endParaRPr lang="en-US" sz="1050" dirty="0"/>
          </a:p>
        </p:txBody>
      </p:sp>
      <p:sp>
        <p:nvSpPr>
          <p:cNvPr id="48" name="Shape 38"/>
          <p:cNvSpPr/>
          <p:nvPr/>
        </p:nvSpPr>
        <p:spPr>
          <a:xfrm>
            <a:off x="6492240" y="5276088"/>
            <a:ext cx="347472" cy="347472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49" name="Image 8" descr="/home/claude/safety_ppt/icons/serve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75633" y="5359481"/>
            <a:ext cx="180685" cy="180685"/>
          </a:xfrm>
          <a:prstGeom prst="rect">
            <a:avLst/>
          </a:prstGeom>
        </p:spPr>
      </p:pic>
      <p:sp>
        <p:nvSpPr>
          <p:cNvPr id="50" name="Text 39"/>
          <p:cNvSpPr txBox="1"/>
          <p:nvPr/>
        </p:nvSpPr>
        <p:spPr>
          <a:xfrm>
            <a:off x="6967728" y="527608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&amp; cloud deployment for scale</a:t>
            </a:r>
            <a:endParaRPr lang="en-US" sz="1050" dirty="0"/>
          </a:p>
        </p:txBody>
      </p:sp>
      <p:sp>
        <p:nvSpPr>
          <p:cNvPr id="51" name="Shape 40"/>
          <p:cNvSpPr/>
          <p:nvPr/>
        </p:nvSpPr>
        <p:spPr>
          <a:xfrm>
            <a:off x="6492240" y="5733288"/>
            <a:ext cx="347472" cy="347472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52" name="Image 9" descr="/home/claude/safety_ppt/icons/char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5633" y="5816681"/>
            <a:ext cx="180685" cy="180685"/>
          </a:xfrm>
          <a:prstGeom prst="rect">
            <a:avLst/>
          </a:prstGeom>
        </p:spPr>
      </p:pic>
      <p:sp>
        <p:nvSpPr>
          <p:cNvPr id="53" name="Text 41"/>
          <p:cNvSpPr txBox="1"/>
          <p:nvPr/>
        </p:nvSpPr>
        <p:spPr>
          <a:xfrm>
            <a:off x="6967728" y="573328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— trends, heatmaps, risk</a:t>
            </a:r>
            <a:endParaRPr lang="en-US" sz="1050" dirty="0"/>
          </a:p>
        </p:txBody>
      </p:sp>
      <p:sp>
        <p:nvSpPr>
          <p:cNvPr id="54" name="Text 42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performs AI-based safety monitoring on a PC/server today, with ESP32-CAM as the planned IoT camera layer.</a:t>
            </a:r>
            <a:endParaRPr lang="en-US" sz="105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ECDA648-CE23-56EE-5414-AAD32969087B}"/>
              </a:ext>
            </a:extLst>
          </p:cNvPr>
          <p:cNvSpPr txBox="1"/>
          <p:nvPr/>
        </p:nvSpPr>
        <p:spPr>
          <a:xfrm>
            <a:off x="822960" y="1296662"/>
            <a:ext cx="3506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Development Flow :-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628</Words>
  <Application>Microsoft Office PowerPoint</Application>
  <PresentationFormat>Widescreen</PresentationFormat>
  <Paragraphs>138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Shivam Shivange</cp:lastModifiedBy>
  <cp:revision>3</cp:revision>
  <dcterms:created xsi:type="dcterms:W3CDTF">2026-09-16T04:43:48Z</dcterms:created>
  <dcterms:modified xsi:type="dcterms:W3CDTF">2026-09-16T05:04:26Z</dcterms:modified>
</cp:coreProperties>
</file>