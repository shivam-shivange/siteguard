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64592" cy="3474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C518"/>
                </a:solidFill>
              </a:defRPr>
            </a:pPr>
            <a:r>
              <a:t>MDM CAPSTONE · AI + IOT</a:t>
            </a:r>
          </a:p>
          <a:p>
            <a:pPr>
              <a:defRPr sz="4800" b="1">
                <a:solidFill>
                  <a:srgbClr val="F8FAFC"/>
                </a:solidFill>
              </a:defRPr>
            </a:pPr>
            <a:r>
              <a:t>SITEGUARD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AI-Based Construction Site Worker Safety Monitoring System</a:t>
            </a:r>
          </a:p>
          <a:p>
            <a:br/>
            <a:pPr>
              <a:defRPr sz="1350">
                <a:solidFill>
                  <a:srgbClr val="94A3B8"/>
                </a:solidFill>
              </a:defRPr>
            </a:pPr>
            <a:r>
              <a:t>Real-Time Edge Ingestion • YOLOv8n PPE Detection • BoT-SORT Deep Re-ID • Temporal Hysteresis Rule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5303520"/>
            <a:ext cx="1536192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ESP32-CAM (5 FPS)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5303520"/>
            <a:ext cx="1536192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YOLOv8n (640x640)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5303520"/>
            <a:ext cx="1536192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BoT-SORT Re-ID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303520"/>
            <a:ext cx="1536192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70/30 Hysteresis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5303520"/>
            <a:ext cx="1536192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SQLite WAL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5303520"/>
            <a:ext cx="1536192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WebSocket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02 · CONTEXT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</a:defRPr>
            </a:pPr>
            <a:r>
              <a:t>The Problem &amp; Core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SITEGUARD ·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3232"/>
                </a:solidFill>
              </a:defRPr>
            </a:pPr>
            <a:r>
              <a:t>Construction Safety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960120" y="1920240"/>
            <a:ext cx="4663440" cy="777240"/>
          </a:xfrm>
          <a:prstGeom prst="round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20%+ OF ALL WORKPLACE FATALITIES OCCUR IN CONSTRUCTION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Missing hardhats &amp; safety vests is the #1 cited OSHA violation nationwide.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50">
                <a:solidFill>
                  <a:srgbClr val="1A202C"/>
                </a:solidFill>
              </a:defRPr>
            </a:pPr>
            <a:r>
              <a:t>• Low PPE Compliance: </a:t>
            </a:r>
            <a:r>
              <a:rPr b="0">
                <a:solidFill>
                  <a:srgbClr val="64748B"/>
                </a:solidFill>
              </a:rPr>
              <a:t>Workers frequently remove helmets and vests in unsupervised zones when no officer is present.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Monitoring Fatigue: </a:t>
            </a:r>
            <a:r>
              <a:rPr b="0">
                <a:solidFill>
                  <a:srgbClr val="64748B"/>
                </a:solidFill>
              </a:rPr>
              <a:t>Safety supervisors cannot watch multiple live camera feeds continuously; human lapses occur.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False-Alarm Fatigue: </a:t>
            </a:r>
            <a:r>
              <a:rPr b="0">
                <a:solidFill>
                  <a:srgbClr val="64748B"/>
                </a:solidFill>
              </a:rPr>
              <a:t>Raw single-frame detectors flicker heavily on momentary occlusion and noise, causing alert dismissal.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Machinery Blind Spots: </a:t>
            </a:r>
            <a:r>
              <a:rPr b="0">
                <a:solidFill>
                  <a:srgbClr val="64748B"/>
                </a:solidFill>
              </a:rPr>
              <a:t>Ground workers cross paths with excavators and cranes without spatial danger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7850"/>
                </a:solidFill>
              </a:defRPr>
            </a:pPr>
            <a:r>
              <a:t>Five Core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107850"/>
                </a:solidFill>
              </a:defRPr>
            </a:pPr>
            <a:r>
              <a:t>✔ 01. Edge Video Ingestion</a:t>
            </a:r>
            <a:br/>
            <a:r>
              <a:rPr b="0" sz="1100">
                <a:solidFill>
                  <a:srgbClr val="64748B"/>
                </a:solidFill>
              </a:rPr>
              <a:t>   Stream low-latency QVGA/VGA frames from wireless ESP32-CAM nodes over Wi-Fi at 5 FPS pacing.
</a:t>
            </a:r>
          </a:p>
          <a:p>
            <a:pPr>
              <a:defRPr b="1" sz="1200">
                <a:solidFill>
                  <a:srgbClr val="107850"/>
                </a:solidFill>
              </a:defRPr>
            </a:pPr>
            <a:r>
              <a:t>✔ 02. Accurate PPE Attribution</a:t>
            </a:r>
            <a:br/>
            <a:r>
              <a:rPr b="0" sz="1100">
                <a:solidFill>
                  <a:srgbClr val="64748B"/>
                </a:solidFill>
              </a:rPr>
              <a:t>   Simultaneous detection of workers and safety gear with strict bounding-box containment (IoU &gt;= 0.50).
</a:t>
            </a:r>
          </a:p>
          <a:p>
            <a:pPr>
              <a:defRPr b="1" sz="1200">
                <a:solidFill>
                  <a:srgbClr val="107850"/>
                </a:solidFill>
              </a:defRPr>
            </a:pPr>
            <a:r>
              <a:t>✔ 03. Stable Identity via Re-ID</a:t>
            </a:r>
            <a:br/>
            <a:r>
              <a:rPr b="0" sz="1100">
                <a:solidFill>
                  <a:srgbClr val="64748B"/>
                </a:solidFill>
              </a:rPr>
              <a:t>   Keep worker IDs consistent through visual occlusions and intersecting paths using BoT-SORT appearance vectors.
</a:t>
            </a:r>
          </a:p>
          <a:p>
            <a:pPr>
              <a:defRPr b="1" sz="1200">
                <a:solidFill>
                  <a:srgbClr val="107850"/>
                </a:solidFill>
              </a:defRPr>
            </a:pPr>
            <a:r>
              <a:t>✔ 04. Zero Alert Flapping</a:t>
            </a:r>
            <a:br/>
            <a:r>
              <a:rPr b="0" sz="1100">
                <a:solidFill>
                  <a:srgbClr val="64748B"/>
                </a:solidFill>
              </a:rPr>
              <a:t>   Confirm violations only when missing in &gt;=70% of frames over a 10s window (clear at &lt;=30%).
</a:t>
            </a:r>
          </a:p>
          <a:p>
            <a:pPr>
              <a:defRPr b="1" sz="1200">
                <a:solidFill>
                  <a:srgbClr val="107850"/>
                </a:solidFill>
              </a:defRPr>
            </a:pPr>
            <a:r>
              <a:t>✔ 05. Real-Time Operations</a:t>
            </a:r>
            <a:br/>
            <a:r>
              <a:rPr b="0" sz="1100">
                <a:solidFill>
                  <a:srgbClr val="64748B"/>
                </a:solidFill>
              </a:rPr>
              <a:t>   Instant WebSocket alert broadcast, evidence JPEG snapshots, and SQLite WAL database audit logging.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03 ·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</a:defRPr>
            </a:pPr>
            <a:r>
              <a:t>Core Features &amp; 8-Stage 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SITEGUARD ·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11480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202C"/>
                </a:solidFill>
              </a:defRPr>
            </a:pPr>
            <a:r>
              <a:t>Key System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1A202C"/>
                </a:solidFill>
              </a:defRPr>
            </a:pPr>
            <a:r>
              <a:t>• Multi-Camera Ingestion: </a:t>
            </a:r>
            <a:r>
              <a:rPr b="0">
                <a:solidFill>
                  <a:srgbClr val="64748B"/>
                </a:solidFill>
              </a:rPr>
              <a:t>Raw JPEG HTTP POST from wireless ESP32-CAMs &amp; webcams.</a:t>
            </a:r>
          </a:p>
          <a:p>
            <a:pPr>
              <a:defRPr b="1" sz="1100">
                <a:solidFill>
                  <a:srgbClr val="1A202C"/>
                </a:solidFill>
              </a:defRPr>
            </a:pPr>
            <a:r>
              <a:t>• Domain PPE Detection: </a:t>
            </a:r>
            <a:r>
              <a:rPr b="0">
                <a:solidFill>
                  <a:srgbClr val="64748B"/>
                </a:solidFill>
              </a:rPr>
              <a:t>Person, Hardhat, Vest, Mask &amp; their 'NO-' violation states.</a:t>
            </a:r>
          </a:p>
          <a:p>
            <a:pPr>
              <a:defRPr b="1" sz="1100">
                <a:solidFill>
                  <a:srgbClr val="1A202C"/>
                </a:solidFill>
              </a:defRPr>
            </a:pPr>
            <a:r>
              <a:t>• Tracking &amp; Re-ID: </a:t>
            </a:r>
            <a:r>
              <a:rPr b="0">
                <a:solidFill>
                  <a:srgbClr val="64748B"/>
                </a:solidFill>
              </a:rPr>
              <a:t>BoT-SORT appearance embeddings (ByteTrack supported).</a:t>
            </a:r>
          </a:p>
          <a:p>
            <a:pPr>
              <a:defRPr b="1" sz="1100">
                <a:solidFill>
                  <a:srgbClr val="1A202C"/>
                </a:solidFill>
              </a:defRPr>
            </a:pPr>
            <a:r>
              <a:t>• Spatial Containment: </a:t>
            </a:r>
            <a:r>
              <a:rPr b="0">
                <a:solidFill>
                  <a:srgbClr val="64748B"/>
                </a:solidFill>
              </a:rPr>
              <a:t>&gt;=50% box overlap ties gear strictly to wearer body.</a:t>
            </a:r>
          </a:p>
          <a:p>
            <a:pPr>
              <a:defRPr b="1" sz="1100">
                <a:solidFill>
                  <a:srgbClr val="1A202C"/>
                </a:solidFill>
              </a:defRPr>
            </a:pPr>
            <a:r>
              <a:t>• Temporal Hysteresis: </a:t>
            </a:r>
            <a:r>
              <a:rPr b="0">
                <a:solidFill>
                  <a:srgbClr val="64748B"/>
                </a:solidFill>
              </a:rPr>
              <a:t>10s window, 70% confirm / 30% clear eliminates flickering.</a:t>
            </a:r>
          </a:p>
          <a:p>
            <a:pPr>
              <a:defRPr b="1" sz="1100">
                <a:solidFill>
                  <a:srgbClr val="1A202C"/>
                </a:solidFill>
              </a:defRPr>
            </a:pPr>
            <a:r>
              <a:t>• SQLite WAL Engine: </a:t>
            </a:r>
            <a:r>
              <a:rPr b="0">
                <a:solidFill>
                  <a:srgbClr val="64748B"/>
                </a:solidFill>
              </a:rPr>
              <a:t>High-concurrency, non-blocking ACID incident logging.</a:t>
            </a:r>
          </a:p>
          <a:p>
            <a:pPr>
              <a:defRPr b="1" sz="1100">
                <a:solidFill>
                  <a:srgbClr val="1A202C"/>
                </a:solidFill>
              </a:defRPr>
            </a:pPr>
            <a:r>
              <a:t>• WebSocket Hub: </a:t>
            </a:r>
            <a:r>
              <a:rPr b="0">
                <a:solidFill>
                  <a:srgbClr val="64748B"/>
                </a:solidFill>
              </a:rPr>
              <a:t>Real-time alert dispatch to web dashboard in sub-50 ms.</a:t>
            </a:r>
          </a:p>
          <a:p>
            <a:pPr>
              <a:defRPr b="1" sz="1100">
                <a:solidFill>
                  <a:srgbClr val="1A202C"/>
                </a:solidFill>
              </a:defRPr>
            </a:pPr>
            <a:r>
              <a:t>• Diagnostics &amp; Telemetry: </a:t>
            </a:r>
            <a:r>
              <a:rPr b="0">
                <a:solidFill>
                  <a:srgbClr val="64748B"/>
                </a:solidFill>
              </a:rPr>
              <a:t>ESP32 RSSI, heap, FPS tracking; offline after 15s.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630936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554480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6EB4"/>
                </a:solidFill>
              </a:defRPr>
            </a:pPr>
            <a:r>
              <a:t>8-Stage Frame Dataflow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920240"/>
            <a:ext cx="2926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b="1" sz="1100">
                <a:solidFill>
                  <a:srgbClr val="0E6EB4"/>
                </a:solidFill>
              </a:defRPr>
            </a:pPr>
            <a:r>
              <a:t>1. Ingestion</a:t>
            </a:r>
          </a:p>
          <a:p>
            <a:pPr>
              <a:defRPr sz="950">
                <a:solidFill>
                  <a:srgbClr val="1A202C"/>
                </a:solidFill>
              </a:defRPr>
            </a:pPr>
            <a:r>
              <a:t>ESP32-CAM posts raw JPEG @ 5 FPS via HTTP POST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[routes/camera.py]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920240"/>
            <a:ext cx="2926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b="1" sz="1100">
                <a:solidFill>
                  <a:srgbClr val="0E6EB4"/>
                </a:solidFill>
              </a:defRPr>
            </a:pPr>
            <a:r>
              <a:t>2. Preprocessing</a:t>
            </a:r>
          </a:p>
          <a:p>
            <a:pPr>
              <a:defRPr sz="950">
                <a:solidFill>
                  <a:srgbClr val="1A202C"/>
                </a:solidFill>
              </a:defRPr>
            </a:pPr>
            <a:r>
              <a:t>BGR to LAB, CLAHE on L channel (&lt;4.2 ms), Letterbox 640x640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[preprocessor.py]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971800"/>
            <a:ext cx="2926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b="1" sz="1100">
                <a:solidFill>
                  <a:srgbClr val="0E6EB4"/>
                </a:solidFill>
              </a:defRPr>
            </a:pPr>
            <a:r>
              <a:t>3. Detection</a:t>
            </a:r>
          </a:p>
          <a:p>
            <a:pPr>
              <a:defRPr sz="950">
                <a:solidFill>
                  <a:srgbClr val="1A202C"/>
                </a:solidFill>
              </a:defRPr>
            </a:pPr>
            <a:r>
              <a:t>YOLOv8n finds Person, PPE worn &amp; missing, and machinery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[inference.py]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971800"/>
            <a:ext cx="2926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b="1" sz="1100">
                <a:solidFill>
                  <a:srgbClr val="0E6EB4"/>
                </a:solidFill>
              </a:defRPr>
            </a:pPr>
            <a:r>
              <a:t>4. Re-ID Tracking</a:t>
            </a:r>
          </a:p>
          <a:p>
            <a:pPr>
              <a:defRPr sz="950">
                <a:solidFill>
                  <a:srgbClr val="1A202C"/>
                </a:solidFill>
              </a:defRPr>
            </a:pPr>
            <a:r>
              <a:t>BoT-SORT preserves worker track IDs across visual occlusions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[botsort_reid.yaml]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4023360"/>
            <a:ext cx="2926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b="1" sz="1100">
                <a:solidFill>
                  <a:srgbClr val="0E6EB4"/>
                </a:solidFill>
              </a:defRPr>
            </a:pPr>
            <a:r>
              <a:t>5. Association</a:t>
            </a:r>
          </a:p>
          <a:p>
            <a:pPr>
              <a:defRPr sz="950">
                <a:solidFill>
                  <a:srgbClr val="1A202C"/>
                </a:solidFill>
              </a:defRPr>
            </a:pPr>
            <a:r>
              <a:t>Containment algorithm assigns gear strictly to wearer box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[inference.py]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023360"/>
            <a:ext cx="2926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b="1" sz="1100">
                <a:solidFill>
                  <a:srgbClr val="0E6EB4"/>
                </a:solidFill>
              </a:defRPr>
            </a:pPr>
            <a:r>
              <a:t>6. Safety Engine</a:t>
            </a:r>
          </a:p>
          <a:p>
            <a:pPr>
              <a:defRPr sz="950">
                <a:solidFill>
                  <a:srgbClr val="1A202C"/>
                </a:solidFill>
              </a:defRPr>
            </a:pPr>
            <a:r>
              <a:t>10s sliding window (70% confirm / 30% clear) suppresses noise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[safety_engine.py]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5074920"/>
            <a:ext cx="2926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b="1" sz="1100">
                <a:solidFill>
                  <a:srgbClr val="0E6EB4"/>
                </a:solidFill>
              </a:defRPr>
            </a:pPr>
            <a:r>
              <a:t>7. Persistence</a:t>
            </a:r>
          </a:p>
          <a:p>
            <a:pPr>
              <a:defRPr sz="950">
                <a:solidFill>
                  <a:srgbClr val="1A202C"/>
                </a:solidFill>
              </a:defRPr>
            </a:pPr>
            <a:r>
              <a:t>Annotated snapshot saved; incident logged to SQLite WAL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[event_manager.py]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5074920"/>
            <a:ext cx="29260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b="1" sz="1100">
                <a:solidFill>
                  <a:srgbClr val="0E6EB4"/>
                </a:solidFill>
              </a:defRPr>
            </a:pPr>
            <a:r>
              <a:t>8. Web Dashboard</a:t>
            </a:r>
          </a:p>
          <a:p>
            <a:pPr>
              <a:defRPr sz="950">
                <a:solidFill>
                  <a:srgbClr val="1A202C"/>
                </a:solidFill>
              </a:defRPr>
            </a:pPr>
            <a:r>
              <a:t>Live WebSockets push compliance status &amp; telemetry to UI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[websocket_hub.py]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04 · EDGE IOT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</a:defRPr>
            </a:pPr>
            <a:r>
              <a:t>ESP32-CAM Hardware Architecture &amp; Embedded Firmware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SITEGUARD ·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780A"/>
                </a:solidFill>
              </a:defRPr>
            </a:pPr>
            <a:r>
              <a:t>AI-Thinker ESP32-CAM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50">
                <a:solidFill>
                  <a:srgbClr val="1A202C"/>
                </a:solidFill>
              </a:defRPr>
            </a:pPr>
            <a:r>
              <a:t>• Microcontroller: </a:t>
            </a:r>
            <a:r>
              <a:rPr b="0">
                <a:solidFill>
                  <a:srgbClr val="64748B"/>
                </a:solidFill>
              </a:rPr>
              <a:t>Dual-core Xtensa 32-bit LX6 @ 240 MHz (AI-Thinker ESP32).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Camera Sensor: </a:t>
            </a:r>
            <a:r>
              <a:rPr b="0">
                <a:solidFill>
                  <a:srgbClr val="64748B"/>
                </a:solidFill>
              </a:rPr>
              <a:t>Omnivision OV2640 2-Megapixel CMOS sensor with hardware JPEG encoding.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Memory Subsystem: </a:t>
            </a:r>
            <a:r>
              <a:rPr b="0">
                <a:solidFill>
                  <a:srgbClr val="64748B"/>
                </a:solidFill>
              </a:rPr>
              <a:t>520 KB internal SRAM + 4 MB external PSRAM for double buffering.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Wireless Connectivity: </a:t>
            </a:r>
            <a:r>
              <a:rPr b="0">
                <a:solidFill>
                  <a:srgbClr val="64748B"/>
                </a:solidFill>
              </a:rPr>
              <a:t>Integrated 802.11 b/g/n Wi-Fi (2.4 GHz) link to Host Server.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Host Machine Profile: </a:t>
            </a:r>
            <a:r>
              <a:rPr b="0">
                <a:solidFill>
                  <a:srgbClr val="64748B"/>
                </a:solidFill>
              </a:rPr>
              <a:t>AMD Ryzen 5 5625U CPU (integrated Radeon Graphics), running FastAPI + SQLite.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Power Requirements: </a:t>
            </a:r>
            <a:r>
              <a:rPr b="0">
                <a:solidFill>
                  <a:srgbClr val="64748B"/>
                </a:solidFill>
              </a:rPr>
              <a:t>5V DC stabilized external power supply (common ground).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6EB4"/>
                </a:solidFill>
              </a:defRPr>
            </a:pPr>
            <a:r>
              <a:t>Firmware &amp; HTTP Ingestion (velxio.cpp)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50">
                <a:solidFill>
                  <a:srgbClr val="0E6EB4"/>
                </a:solidFill>
              </a:defRPr>
            </a:pPr>
            <a:r>
              <a:t>⚡ Paced Frame Interval: </a:t>
            </a:r>
            <a:r>
              <a:rPr b="0">
                <a:solidFill>
                  <a:srgbClr val="64748B"/>
                </a:solidFill>
              </a:rPr>
              <a:t>5 FPS (200 ms loop pacing, counting transmission latency).</a:t>
            </a:r>
          </a:p>
          <a:p>
            <a:pPr>
              <a:defRPr b="1" sz="1150">
                <a:solidFill>
                  <a:srgbClr val="0E6EB4"/>
                </a:solidFill>
              </a:defRPr>
            </a:pPr>
            <a:r>
              <a:t>⚡ Resolution &amp; Compression: </a:t>
            </a:r>
            <a:r>
              <a:rPr b="0">
                <a:solidFill>
                  <a:srgbClr val="64748B"/>
                </a:solidFill>
              </a:rPr>
              <a:t>QVGA (320x240) JPEG at quality factor 12 (crisp, small payload).</a:t>
            </a:r>
          </a:p>
          <a:p>
            <a:pPr>
              <a:defRPr b="1" sz="1150">
                <a:solidFill>
                  <a:srgbClr val="0E6EB4"/>
                </a:solidFill>
              </a:defRPr>
            </a:pPr>
            <a:r>
              <a:t>⚡ PSRAM Double Buffering: </a:t>
            </a:r>
            <a:r>
              <a:rPr b="0">
                <a:solidFill>
                  <a:srgbClr val="64748B"/>
                </a:solidFill>
              </a:rPr>
              <a:t>config.fb_count = 2 in PSRAM with CAMERA_GRAB_LATEST: captures next frame while uploading current frame.</a:t>
            </a:r>
          </a:p>
          <a:p>
            <a:pPr>
              <a:defRPr b="1" sz="1150">
                <a:solidFill>
                  <a:srgbClr val="0E6EB4"/>
                </a:solidFill>
              </a:defRPr>
            </a:pPr>
            <a:r>
              <a:t>⚡ HTTP Socket Reuse: </a:t>
            </a:r>
            <a:r>
              <a:rPr b="0">
                <a:solidFill>
                  <a:srgbClr val="64748B"/>
                </a:solidFill>
              </a:rPr>
              <a:t>http.setReuse(true) keep-alive skips fresh TCP handshake per frame.</a:t>
            </a:r>
          </a:p>
          <a:p>
            <a:pPr>
              <a:defRPr b="1" sz="1150">
                <a:solidFill>
                  <a:srgbClr val="0E6EB4"/>
                </a:solidFill>
              </a:defRPr>
            </a:pPr>
            <a:r>
              <a:t>⚡ Self-Healing Telemetry: </a:t>
            </a:r>
            <a:r>
              <a:rPr b="0">
                <a:solidFill>
                  <a:srgbClr val="64748B"/>
                </a:solidFill>
              </a:rPr>
              <a:t>Camera init retries every 2s on failure; Wi-Fi auto-reconnects on RF drop.</a:t>
            </a:r>
          </a:p>
          <a:p>
            <a:pPr>
              <a:defRPr b="1" sz="1150">
                <a:solidFill>
                  <a:srgbClr val="0E6EB4"/>
                </a:solidFill>
              </a:defRPr>
            </a:pPr>
            <a:r>
              <a:t>⚡ Heartbeat Telemetry: </a:t>
            </a:r>
            <a:r>
              <a:rPr b="0">
                <a:solidFill>
                  <a:srgbClr val="64748B"/>
                </a:solidFill>
              </a:rPr>
              <a:t>Reports device_id, Wi-Fi RSSI, free heap, and uptime to /api/camera/heartbeat.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05 · COMPUTER VISION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</a:defRPr>
            </a:pPr>
            <a:r>
              <a:t>CLAHE Contrast Enhancement &amp; YOLOv8n Gated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SITEGUARD ·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6EB4"/>
                </a:solidFill>
              </a:defRPr>
            </a:pPr>
            <a:r>
              <a:t>Luminance-Preserving CLAHE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50">
                <a:solidFill>
                  <a:srgbClr val="1A202C"/>
                </a:solidFill>
              </a:defRPr>
            </a:pPr>
            <a:r>
              <a:t>• 1. Buffer Decoding: </a:t>
            </a:r>
            <a:r>
              <a:rPr b="0">
                <a:solidFill>
                  <a:srgbClr val="64748B"/>
                </a:solidFill>
              </a:rPr>
              <a:t>cv2.imdecode parses incoming JPEG bytes into a standard BGR NumPy array.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2. BGR to CIE LAB: </a:t>
            </a:r>
            <a:r>
              <a:rPr b="0">
                <a:solidFill>
                  <a:srgbClr val="64748B"/>
                </a:solidFill>
              </a:rPr>
              <a:t>Separates Luminance (L) from chromatic channels (A and B). This preserves vibrant PPE colors (orange/neon yellow) without color shift.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3. Adaptive CLAHE on L: </a:t>
            </a:r>
            <a:r>
              <a:rPr b="0">
                <a:solidFill>
                  <a:srgbClr val="64748B"/>
                </a:solidFill>
              </a:rPr>
              <a:t>clipLimit = 2.0, tileGridSize = (8, 8). Boosts local contrast in harsh shadows, backlit scaffolding, and dawn/dusk lighting while capping noise amplification.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4. Letterboxing: </a:t>
            </a:r>
            <a:r>
              <a:rPr b="0">
                <a:solidFill>
                  <a:srgbClr val="64748B"/>
                </a:solidFill>
              </a:rPr>
              <a:t>Converted back to BGR; aspect-ratio padded to 640x640 px for neural input.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Benchmark Speed: </a:t>
            </a:r>
            <a:r>
              <a:rPr b="0">
                <a:solidFill>
                  <a:srgbClr val="64748B"/>
                </a:solidFill>
              </a:rPr>
              <a:t>&lt;4.2 ms execution per frame on Ryzen 5 CPU; zero ingestion bottleneck.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780A"/>
                </a:solidFill>
              </a:defRPr>
            </a:pPr>
            <a:r>
              <a:t>YOLOv8n &amp; Asymmetric Confidence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50">
                <a:solidFill>
                  <a:srgbClr val="B4780A"/>
                </a:solidFill>
              </a:defRPr>
            </a:pPr>
            <a:r>
              <a:t>🎯 Architecture: </a:t>
            </a:r>
            <a:r>
              <a:rPr b="0">
                <a:solidFill>
                  <a:srgbClr val="64748B"/>
                </a:solidFill>
              </a:rPr>
              <a:t>Ultralytics YOLOv8n (Nano) anchor-free single-stage detector (~6.2 MB).</a:t>
            </a:r>
          </a:p>
          <a:p>
            <a:pPr>
              <a:defRPr b="1" sz="1150">
                <a:solidFill>
                  <a:srgbClr val="B4780A"/>
                </a:solidFill>
              </a:defRPr>
            </a:pPr>
            <a:r>
              <a:t>🎯 10 Active Classes: </a:t>
            </a:r>
            <a:r>
              <a:rPr b="0">
                <a:solidFill>
                  <a:srgbClr val="64748B"/>
                </a:solidFill>
              </a:rPr>
              <a:t>Person, Hardhat, NO-Hardhat, Vest, NO-Vest, Mask, NO-Mask, Cone, machinery, vehicle.</a:t>
            </a:r>
          </a:p>
          <a:p>
            <a:pPr>
              <a:defRPr b="1" sz="1150">
                <a:solidFill>
                  <a:srgbClr val="B4780A"/>
                </a:solidFill>
              </a:defRPr>
            </a:pPr>
            <a:r>
              <a:t>🎯 Tighter NMS IoU (0.40): </a:t>
            </a:r>
            <a:r>
              <a:rPr b="0">
                <a:solidFill>
                  <a:srgbClr val="64748B"/>
                </a:solidFill>
              </a:rPr>
              <a:t>Eliminates duplicate overlapping boxes (Ultralytics default is 0.70).</a:t>
            </a:r>
          </a:p>
          <a:p>
            <a:pPr>
              <a:defRPr b="1" sz="1150">
                <a:solidFill>
                  <a:srgbClr val="B4780A"/>
                </a:solidFill>
              </a:defRPr>
            </a:pPr>
            <a:r>
              <a:t>🎯 Person Gate: 0.35: </a:t>
            </a:r>
            <a:r>
              <a:rPr b="0">
                <a:solidFill>
                  <a:srgbClr val="64748B"/>
                </a:solidFill>
              </a:rPr>
              <a:t>Low threshold ensures workers are never missed even under distance or occlusion.</a:t>
            </a:r>
          </a:p>
          <a:p>
            <a:pPr>
              <a:defRPr b="1" sz="1150">
                <a:solidFill>
                  <a:srgbClr val="B4780A"/>
                </a:solidFill>
              </a:defRPr>
            </a:pPr>
            <a:r>
              <a:t>🎯 Worn PPE Gate: 0.40: </a:t>
            </a:r>
            <a:r>
              <a:rPr b="0">
                <a:solidFill>
                  <a:srgbClr val="64748B"/>
                </a:solidFill>
              </a:rPr>
              <a:t>Hardhat, Safety Vest, Mask: balanced threshold for worn gear.</a:t>
            </a:r>
          </a:p>
          <a:p>
            <a:pPr>
              <a:defRPr b="1" sz="1150">
                <a:solidFill>
                  <a:srgbClr val="B4780A"/>
                </a:solidFill>
              </a:defRPr>
            </a:pPr>
            <a:r>
              <a:t>🎯 Violation Gate: 0.50: </a:t>
            </a:r>
            <a:r>
              <a:rPr b="0">
                <a:solidFill>
                  <a:srgbClr val="64748B"/>
                </a:solidFill>
              </a:rPr>
              <a:t>NO-Hardhat, NO-Safety Vest, NO-Mask: higher threshold suppresses false alarms.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06 · ASSOCIATION &amp;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</a:defRPr>
            </a:pPr>
            <a:r>
              <a:t>BoT-SORT Deep Re-ID &amp; Spatial Containment Association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SITEGUARD ·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780A"/>
                </a:solidFill>
              </a:defRPr>
            </a:pPr>
            <a:r>
              <a:t>BoT-SORT Tracking with Deep Re-ID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50">
                <a:solidFill>
                  <a:srgbClr val="1A202C"/>
                </a:solidFill>
              </a:defRPr>
            </a:pPr>
            <a:r>
              <a:t>• The Limitation of Motion-Only: </a:t>
            </a:r>
            <a:r>
              <a:rPr b="0">
                <a:solidFill>
                  <a:srgbClr val="64748B"/>
                </a:solidFill>
              </a:rPr>
              <a:t>Kalman filter trackers (ByteTrack / SORT) lose identity when workers cross paths or stop moving behind scaffolding.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Deep Visual Embeddings: </a:t>
            </a:r>
            <a:r>
              <a:rPr b="0">
                <a:solidFill>
                  <a:srgbClr val="64748B"/>
                </a:solidFill>
              </a:rPr>
              <a:t>with_reid: True extracts deep appearance vectors for every detected worker box.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Global Motion Compensation: </a:t>
            </a:r>
            <a:r>
              <a:rPr b="0">
                <a:solidFill>
                  <a:srgbClr val="64748B"/>
                </a:solidFill>
              </a:rPr>
              <a:t>gmc_method: sparseOptFlow cancels camera vibrations and wind movement.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Appearance Threshold (0.75): </a:t>
            </a:r>
            <a:r>
              <a:rPr b="0">
                <a:solidFill>
                  <a:srgbClr val="64748B"/>
                </a:solidFill>
              </a:rPr>
              <a:t>High cosine similarity bar prevents false ID swaps between workers wearing similar gear.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Track Buffer (45 frames): </a:t>
            </a:r>
            <a:r>
              <a:rPr b="0">
                <a:solidFill>
                  <a:srgbClr val="64748B"/>
                </a:solidFill>
              </a:rPr>
              <a:t>Maintains lost tracks for &gt;9 seconds at 5 FPS to reconnect re-emerging workers.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7850"/>
                </a:solidFill>
              </a:defRPr>
            </a:pPr>
            <a:r>
              <a:t>Bounding Box Containment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46520" y="1920240"/>
            <a:ext cx="4754880" cy="777240"/>
          </a:xfrm>
          <a:prstGeom prst="roundRect">
            <a:avLst/>
          </a:prstGeom>
          <a:solidFill>
            <a:srgbClr val="EBF5F0"/>
          </a:solidFill>
          <a:ln>
            <a:solidFill>
              <a:srgbClr val="B4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850"/>
                </a:solidFill>
              </a:defRPr>
            </a:pPr>
            <a:r>
              <a:t>CONTAINMENT(B_PPE, B_Person) = Area(B_PPE ∩ B_Person) / Area(B_PPE)</a:t>
            </a:r>
          </a:p>
          <a:p>
            <a:pPr>
              <a:defRPr sz="950">
                <a:solidFill>
                  <a:srgbClr val="1A202C"/>
                </a:solidFill>
              </a:defRPr>
            </a:pPr>
            <a:r>
              <a:t>Threshold: &gt;= 0.50 (at least 50% of PPE box must lie inside Person box)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346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107850"/>
                </a:solidFill>
              </a:defRPr>
            </a:pPr>
            <a:r>
              <a:t>✔ Multi-Worker Disambiguation: </a:t>
            </a:r>
            <a:r>
              <a:rPr b="0">
                <a:solidFill>
                  <a:srgbClr val="64748B"/>
                </a:solidFill>
              </a:rPr>
              <a:t>When workers stand side-by-side, each PPE item belongs strictly to the worker bounding box that contains it.</a:t>
            </a:r>
          </a:p>
          <a:p>
            <a:pPr>
              <a:defRPr b="1" sz="1100">
                <a:solidFill>
                  <a:srgbClr val="107850"/>
                </a:solidFill>
              </a:defRPr>
            </a:pPr>
            <a:r>
              <a:t>✔ Floor / Scaffold Drop: </a:t>
            </a:r>
            <a:r>
              <a:rPr b="0">
                <a:solidFill>
                  <a:srgbClr val="64748B"/>
                </a:solidFill>
              </a:rPr>
              <a:t>Loose PPE lying on the ground or scaffold matches nobody and is automatically discarded.</a:t>
            </a:r>
          </a:p>
          <a:p>
            <a:pPr>
              <a:defRPr b="1" sz="1100">
                <a:solidFill>
                  <a:srgbClr val="107850"/>
                </a:solidFill>
              </a:defRPr>
            </a:pPr>
            <a:r>
              <a:t>✔ Conflict Resolution: </a:t>
            </a:r>
            <a:r>
              <a:rPr b="0">
                <a:solidFill>
                  <a:srgbClr val="64748B"/>
                </a:solidFill>
              </a:rPr>
              <a:t>If both Hardhat and NO-Hardhat land on the same worker, the higher confidence score wins.</a:t>
            </a:r>
          </a:p>
          <a:p>
            <a:pPr>
              <a:defRPr b="1" sz="1100">
                <a:solidFill>
                  <a:srgbClr val="107850"/>
                </a:solidFill>
              </a:defRPr>
            </a:pPr>
            <a:r>
              <a:t>✔ Atomic Worker Checklist: </a:t>
            </a:r>
            <a:r>
              <a:rPr b="0">
                <a:solidFill>
                  <a:srgbClr val="64748B"/>
                </a:solidFill>
              </a:rPr>
              <a:t>Produces a per-worker checklist bound to the track_id: {'helmet': ('ok', 0.82), 'vest': ('missing', 0.74)}.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07 · SAFETY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</a:defRPr>
            </a:pPr>
            <a:r>
              <a:t>Dual-Threshold Temporal Hysteresis &amp; Incident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SITEGUARD ·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3232"/>
                </a:solidFill>
              </a:defRPr>
            </a:pPr>
            <a:r>
              <a:t>10-Second Hysteresis Rule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50">
                <a:solidFill>
                  <a:srgbClr val="1A202C"/>
                </a:solidFill>
              </a:defRPr>
            </a:pPr>
            <a:r>
              <a:t>• Sliding Window Buffer: </a:t>
            </a:r>
            <a:r>
              <a:rPr b="0">
                <a:solidFill>
                  <a:srgbClr val="64748B"/>
                </a:solidFill>
              </a:rPr>
              <a:t>Tracks each worker's PPE observations over a 10.0-second sliding window (requires &gt;=3 frames).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Confirmation Threshold (70%): </a:t>
            </a:r>
            <a:r>
              <a:rPr b="0">
                <a:solidFill>
                  <a:srgbClr val="64748B"/>
                </a:solidFill>
              </a:rPr>
              <a:t>An item is confirmed missing only when absent in &gt;=70% of frames over the full window.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Clearance Threshold (30%): </a:t>
            </a:r>
            <a:r>
              <a:rPr b="0">
                <a:solidFill>
                  <a:srgbClr val="64748B"/>
                </a:solidFill>
              </a:rPr>
              <a:t>A violation is cleared only once missing share drops to &lt;=30%.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Zero Alert Flapping: </a:t>
            </a:r>
            <a:r>
              <a:rPr b="0">
                <a:solidFill>
                  <a:srgbClr val="64748B"/>
                </a:solidFill>
              </a:rPr>
              <a:t>The 40% hysteresis gap prevents alerts from toggling on and off during momentary head turns or occlusion.</a:t>
            </a:r>
          </a:p>
          <a:p>
            <a:pPr>
              <a:defRPr b="1" sz="1150">
                <a:solidFill>
                  <a:srgbClr val="1A202C"/>
                </a:solidFill>
              </a:defRPr>
            </a:pPr>
            <a:r>
              <a:t>• Single-Episode Incidents: </a:t>
            </a:r>
            <a:r>
              <a:rPr b="0">
                <a:solidFill>
                  <a:srgbClr val="64748B"/>
                </a:solidFill>
              </a:rPr>
              <a:t>Raises exactly ONE incident when an episode starts; new missing items update it; no duplicate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6EB4"/>
                </a:solidFill>
              </a:defRPr>
            </a:pPr>
            <a:r>
              <a:t>Incident Lifecycle &amp; Dispatch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50">
                <a:solidFill>
                  <a:srgbClr val="0E6EB4"/>
                </a:solidFill>
              </a:defRPr>
            </a:pPr>
            <a:r>
              <a:t>🔔 Evidence Snapshot Saving: </a:t>
            </a:r>
            <a:r>
              <a:rPr b="0">
                <a:solidFill>
                  <a:srgbClr val="64748B"/>
                </a:solidFill>
              </a:rPr>
              <a:t>Saves annotated JPEG evidence snapshot to data/evidence/ immediately upon violation confirmation.</a:t>
            </a:r>
          </a:p>
          <a:p>
            <a:pPr>
              <a:defRPr b="1" sz="1150">
                <a:solidFill>
                  <a:srgbClr val="0E6EB4"/>
                </a:solidFill>
              </a:defRPr>
            </a:pPr>
            <a:r>
              <a:t>🔔 Non-Blocking SQLite WAL: </a:t>
            </a:r>
            <a:r>
              <a:rPr b="0">
                <a:solidFill>
                  <a:srgbClr val="64748B"/>
                </a:solidFill>
              </a:rPr>
              <a:t>Uses PRAGMA journal_mode=WAL and PRAGMA synchronous=NORMAL for concurrent ACID logging.</a:t>
            </a:r>
          </a:p>
          <a:p>
            <a:pPr>
              <a:defRPr b="1" sz="1150">
                <a:solidFill>
                  <a:srgbClr val="0E6EB4"/>
                </a:solidFill>
              </a:defRPr>
            </a:pPr>
            <a:r>
              <a:t>🔔 Severity Tiers: </a:t>
            </a:r>
            <a:r>
              <a:rPr b="0">
                <a:solidFill>
                  <a:srgbClr val="64748B"/>
                </a:solidFill>
              </a:rPr>
              <a:t>Helmet missing: HIGH | Vest missing: HIGH | Mask missing: MEDIUM.</a:t>
            </a:r>
          </a:p>
          <a:p>
            <a:pPr>
              <a:defRPr b="1" sz="1150">
                <a:solidFill>
                  <a:srgbClr val="0E6EB4"/>
                </a:solidFill>
              </a:defRPr>
            </a:pPr>
            <a:r>
              <a:t>🔔 WebSocket Real-Time Push: </a:t>
            </a:r>
            <a:r>
              <a:rPr b="0">
                <a:solidFill>
                  <a:srgbClr val="64748B"/>
                </a:solidFill>
              </a:rPr>
              <a:t>Broadcasts 'INCIDENT_ALERT' payload to all connected dashboard sessions in sub-50 ms.</a:t>
            </a:r>
          </a:p>
          <a:p>
            <a:pPr>
              <a:defRPr b="1" sz="1150">
                <a:solidFill>
                  <a:srgbClr val="0E6EB4"/>
                </a:solidFill>
              </a:defRPr>
            </a:pPr>
            <a:r>
              <a:t>🔔 Dynamic Parameter Overrides: </a:t>
            </a:r>
            <a:r>
              <a:rPr b="0">
                <a:solidFill>
                  <a:srgbClr val="64748B"/>
                </a:solidFill>
              </a:rPr>
              <a:t>Every threshold is configurable via SITEGUARD_* environment variables or live dashboard sliders (no server reboot).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08 · SYSTEM 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</a:defRPr>
            </a:pPr>
            <a:r>
              <a:t>Safety Reliability Scorecard &amp; Empirical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SITEGUARD ·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188720"/>
          </a:xfrm>
          <a:prstGeom prst="roundRect">
            <a:avLst/>
          </a:prstGeom>
          <a:solidFill>
            <a:srgbClr val="EBF8F0"/>
          </a:solidFill>
          <a:ln>
            <a:solidFill>
              <a:srgbClr val="B4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07850"/>
                </a:solidFill>
              </a:defRPr>
            </a:pPr>
            <a:r>
              <a:t>OVERALL SAFETY RELIABILITY SCORE: 91.25 / 100  (GRADE A+)</a:t>
            </a:r>
          </a:p>
          <a:p>
            <a:pPr>
              <a:defRPr sz="1200">
                <a:solidFill>
                  <a:srgbClr val="1A202C"/>
                </a:solidFill>
              </a:defRPr>
            </a:pPr>
            <a:r>
              <a:t>Composite Formulation: Score = (0.35 · S_det) + (0.25 · S_lat) + (0.20 · S_up) + (0.20 · S_dup)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606040" cy="21945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6EB4"/>
                </a:solidFill>
              </a:defRPr>
            </a:pPr>
            <a:r>
              <a:t>Detection Reliability (35%)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6EB4"/>
                </a:solidFill>
              </a:defRPr>
            </a:pPr>
            <a:r>
              <a:t>85.0 / 100</a:t>
            </a:r>
          </a:p>
          <a:p>
            <a:br/>
            <a:pPr>
              <a:defRPr sz="1050">
                <a:solidFill>
                  <a:srgbClr val="64748B"/>
                </a:solidFill>
              </a:defRPr>
            </a:pPr>
            <a:r>
              <a:t>Worker &amp; PPE precision/recall on complex site video footage.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834640"/>
            <a:ext cx="2606040" cy="21945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780A"/>
                </a:solidFill>
              </a:defRPr>
            </a:pPr>
            <a:r>
              <a:t>Latency Performance (25%)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832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4780A"/>
                </a:solidFill>
              </a:defRPr>
            </a:pPr>
            <a:r>
              <a:t>90.0 / 100</a:t>
            </a:r>
          </a:p>
          <a:p>
            <a:br/>
            <a:pPr>
              <a:defRPr sz="1050">
                <a:solidFill>
                  <a:srgbClr val="64748B"/>
                </a:solidFill>
              </a:defRPr>
            </a:pPr>
            <a:r>
              <a:t>Average inference latency 48.2 ms on consumer Ryzen 5 CPU.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834640"/>
            <a:ext cx="2606040" cy="21945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7850"/>
                </a:solidFill>
              </a:defRPr>
            </a:pPr>
            <a:r>
              <a:t>System Uptime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832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7850"/>
                </a:solidFill>
              </a:defRPr>
            </a:pPr>
            <a:r>
              <a:t>95.0 / 100</a:t>
            </a:r>
          </a:p>
          <a:p>
            <a:br/>
            <a:pPr>
              <a:defRPr sz="1050">
                <a:solidFill>
                  <a:srgbClr val="64748B"/>
                </a:solidFill>
              </a:defRPr>
            </a:pPr>
            <a:r>
              <a:t>ESP32 node heartbeat continuity and automatic recovery.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834640"/>
            <a:ext cx="2606040" cy="21945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30175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3232"/>
                </a:solidFill>
              </a:defRPr>
            </a:pPr>
            <a:r>
              <a:t>Duplicate Suppression (20%)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3832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43232"/>
                </a:solidFill>
              </a:defRPr>
            </a:pPr>
            <a:r>
              <a:t>100.0 / 100</a:t>
            </a:r>
          </a:p>
          <a:p>
            <a:br/>
            <a:pPr>
              <a:defRPr sz="1050">
                <a:solidFill>
                  <a:srgbClr val="64748B"/>
                </a:solidFill>
              </a:defRPr>
            </a:pPr>
            <a:r>
              <a:t>Single-incident episode state management eliminates noise.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10698480" cy="1051560"/>
          </a:xfrm>
          <a:prstGeom prst="roundRect">
            <a:avLst/>
          </a:prstGeom>
          <a:solidFill>
            <a:srgbClr val="FBF9F4"/>
          </a:solidFill>
          <a:ln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A202C"/>
                </a:solidFill>
              </a:defRPr>
            </a:pPr>
            <a:r>
              <a:t>Load Benchmark Results (tools/benchmark_system.py):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Tested with 2–4 concurrent cameras streaming @ 5 FPS. Async queue prevented handler blocking with 0 dropped frames and sub-100 ms end-to-end latency.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09 · LITERATURE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</a:defRPr>
            </a:pPr>
            <a:r>
              <a:t>Benchmark Matrix: 15 Research Papers Backing SiteGuard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SITEGUARD ·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7850"/>
                </a:solidFill>
              </a:defRPr>
            </a:pPr>
            <a:r>
              <a:t>Built Capabilities (11 Papers)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000">
                <a:solidFill>
                  <a:srgbClr val="107850"/>
                </a:solidFill>
              </a:defRPr>
            </a:pPr>
            <a:r>
              <a:t>✔ BoT-SORT (Aharon 2022): </a:t>
            </a:r>
            <a:r>
              <a:rPr b="0" sz="950">
                <a:solidFill>
                  <a:srgbClr val="64748B"/>
                </a:solidFill>
              </a:rPr>
              <a:t>Re-ID appearance embeddings + GMC tracking</a:t>
            </a:r>
          </a:p>
          <a:p>
            <a:pPr>
              <a:defRPr b="1" sz="1000">
                <a:solidFill>
                  <a:srgbClr val="107850"/>
                </a:solidFill>
              </a:defRPr>
            </a:pPr>
            <a:r>
              <a:t>✔ ByteTrack (Zhang 2022): </a:t>
            </a:r>
            <a:r>
              <a:rPr b="0" sz="950">
                <a:solidFill>
                  <a:srgbClr val="64748B"/>
                </a:solidFill>
              </a:rPr>
              <a:t>Low-score detection box association</a:t>
            </a:r>
          </a:p>
          <a:p>
            <a:pPr>
              <a:defRPr b="1" sz="1000">
                <a:solidFill>
                  <a:srgbClr val="107850"/>
                </a:solidFill>
              </a:defRPr>
            </a:pPr>
            <a:r>
              <a:t>✔ YOLOv8 (Jocher 2023): </a:t>
            </a:r>
            <a:r>
              <a:rPr b="0" sz="950">
                <a:solidFill>
                  <a:srgbClr val="64748B"/>
                </a:solidFill>
              </a:rPr>
              <a:t>Single-stage PAN-FPN anchor-free detector</a:t>
            </a:r>
          </a:p>
          <a:p>
            <a:pPr>
              <a:defRPr b="1" sz="1000">
                <a:solidFill>
                  <a:srgbClr val="107850"/>
                </a:solidFill>
              </a:defRPr>
            </a:pPr>
            <a:r>
              <a:t>✔ CLAHE (Zuiderveld 1994): </a:t>
            </a:r>
            <a:r>
              <a:rPr b="0" sz="950">
                <a:solidFill>
                  <a:srgbClr val="64748B"/>
                </a:solidFill>
              </a:rPr>
              <a:t>Luminance adaptive contrast equalization</a:t>
            </a:r>
          </a:p>
          <a:p>
            <a:pPr>
              <a:defRPr b="1" sz="1000">
                <a:solidFill>
                  <a:srgbClr val="107850"/>
                </a:solidFill>
              </a:defRPr>
            </a:pPr>
            <a:r>
              <a:t>✔ PPE Containment (Fang 2018): </a:t>
            </a:r>
            <a:r>
              <a:rPr b="0" sz="950">
                <a:solidFill>
                  <a:srgbClr val="64748B"/>
                </a:solidFill>
              </a:rPr>
              <a:t>Two-stage spatial bounding box attribution</a:t>
            </a:r>
          </a:p>
          <a:p>
            <a:pPr>
              <a:defRPr b="1" sz="1000">
                <a:solidFill>
                  <a:srgbClr val="107850"/>
                </a:solidFill>
              </a:defRPr>
            </a:pPr>
            <a:r>
              <a:t>✔ Hysteresis (Sultani 2018): </a:t>
            </a:r>
            <a:r>
              <a:rPr b="0" sz="950">
                <a:solidFill>
                  <a:srgbClr val="64748B"/>
                </a:solidFill>
              </a:rPr>
              <a:t>Dual-threshold temporal voting eliminates flicker</a:t>
            </a:r>
          </a:p>
          <a:p>
            <a:pPr>
              <a:defRPr b="1" sz="1000">
                <a:solidFill>
                  <a:srgbClr val="107850"/>
                </a:solidFill>
              </a:defRPr>
            </a:pPr>
            <a:r>
              <a:t>✔ Edge-Cloud IoT (Satyanarayanan 2017): </a:t>
            </a:r>
            <a:r>
              <a:rPr b="0" sz="950">
                <a:solidFill>
                  <a:srgbClr val="64748B"/>
                </a:solidFill>
              </a:rPr>
              <a:t>Tiered architecture: capture nodes + edge host</a:t>
            </a:r>
          </a:p>
          <a:p>
            <a:pPr>
              <a:defRPr b="1" sz="1000">
                <a:solidFill>
                  <a:srgbClr val="107850"/>
                </a:solidFill>
              </a:defRPr>
            </a:pPr>
            <a:r>
              <a:t>✔ Tail at Scale (Dean 2013): </a:t>
            </a:r>
            <a:r>
              <a:rPr b="0" sz="950">
                <a:solidFill>
                  <a:srgbClr val="64748B"/>
                </a:solidFill>
              </a:rPr>
              <a:t>Async queuing with drop-stale latency mitigation</a:t>
            </a:r>
          </a:p>
          <a:p>
            <a:pPr>
              <a:defRPr b="1" sz="1000">
                <a:solidFill>
                  <a:srgbClr val="107850"/>
                </a:solidFill>
              </a:defRPr>
            </a:pPr>
            <a:r>
              <a:t>✔ ARIES / WAL (Mohan 1992): </a:t>
            </a:r>
            <a:r>
              <a:rPr b="0" sz="950">
                <a:solidFill>
                  <a:srgbClr val="64748B"/>
                </a:solidFill>
              </a:rPr>
              <a:t>Write-Ahead Logging for non-blocking DB writes</a:t>
            </a:r>
          </a:p>
          <a:p>
            <a:pPr>
              <a:defRPr b="1" sz="1000">
                <a:solidFill>
                  <a:srgbClr val="107850"/>
                </a:solidFill>
              </a:defRPr>
            </a:pPr>
            <a:r>
              <a:t>✔ ONNX Runtime (Microsoft 2020): </a:t>
            </a:r>
            <a:r>
              <a:rPr b="0" sz="950">
                <a:solidFill>
                  <a:srgbClr val="64748B"/>
                </a:solidFill>
              </a:rPr>
              <a:t>Graph optimization for 2-4x faster CPU inference</a:t>
            </a:r>
          </a:p>
          <a:p>
            <a:pPr>
              <a:defRPr b="1" sz="1000">
                <a:solidFill>
                  <a:srgbClr val="107850"/>
                </a:solidFill>
              </a:defRPr>
            </a:pPr>
            <a:r>
              <a:t>✔ OSNet Re-ID (Zhou 2019): </a:t>
            </a:r>
            <a:r>
              <a:rPr b="0" sz="950">
                <a:solidFill>
                  <a:srgbClr val="64748B"/>
                </a:solidFill>
              </a:rPr>
              <a:t>Multi-scale feature extraction for person Re-ID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780A"/>
                </a:solidFill>
              </a:defRPr>
            </a:pPr>
            <a:r>
              <a:t>Roadmap &amp; Future Scope (4 Papers)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050">
                <a:solidFill>
                  <a:srgbClr val="B4780A"/>
                </a:solidFill>
              </a:defRPr>
            </a:pPr>
            <a:r>
              <a:t>🚀 Struck-By Proximity (Ray &amp; Teizer 2012) · PARTIAL</a:t>
            </a:r>
            <a:br/>
            <a:r>
              <a:rPr b="0" sz="1000">
                <a:solidFill>
                  <a:srgbClr val="64748B"/>
                </a:solidFill>
              </a:rPr>
              <a:t>   2D machinery/vehicle classification active. Roadmap: 3D metric Euclidean distance calculation via calibrated camera homography.
</a:t>
            </a:r>
          </a:p>
          <a:p>
            <a:pPr>
              <a:defRPr b="1" sz="1050">
                <a:solidFill>
                  <a:srgbClr val="B4780A"/>
                </a:solidFill>
              </a:defRPr>
            </a:pPr>
            <a:r>
              <a:t>🚀 TinyML on Node (David 2021) · PLANNED</a:t>
            </a:r>
            <a:br/>
            <a:r>
              <a:rPr b="0" sz="1000">
                <a:solidFill>
                  <a:srgbClr val="64748B"/>
                </a:solidFill>
              </a:rPr>
              <a:t>   Ultra-lightweight quantized person-presence filter directly on ESP32 to eliminate streaming empty frames.
</a:t>
            </a:r>
          </a:p>
          <a:p>
            <a:pPr>
              <a:defRPr b="1" sz="1050">
                <a:solidFill>
                  <a:srgbClr val="B4780A"/>
                </a:solidFill>
              </a:defRPr>
            </a:pPr>
            <a:r>
              <a:t>🚀 Pose Estimation (Cao 2019 / OpenPose) · PLANNED</a:t>
            </a:r>
            <a:br/>
            <a:r>
              <a:rPr b="0" sz="1000">
                <a:solidFill>
                  <a:srgbClr val="64748B"/>
                </a:solidFill>
              </a:rPr>
              <a:t>   Skeleton keypoint analysis to detect worker falls from height and unsafe ergonomic postures.
</a:t>
            </a:r>
          </a:p>
          <a:p>
            <a:pPr>
              <a:defRPr b="1" sz="1050">
                <a:solidFill>
                  <a:srgbClr val="B4780A"/>
                </a:solidFill>
              </a:defRPr>
            </a:pPr>
            <a:r>
              <a:t>🚀 Closed-Loop IoT Actuation (Al-Fuqaha 2015) · PLANNED</a:t>
            </a:r>
            <a:br/>
            <a:r>
              <a:rPr b="0" sz="1000">
                <a:solidFill>
                  <a:srgbClr val="64748B"/>
                </a:solidFill>
              </a:rPr>
              <a:t>   Bi-directional telemetry enabling server to trigger physical sirens/buzzers and LED beacons on the ESP32 node.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10 · DEPLOYMENT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</a:defRPr>
            </a:pPr>
            <a:r>
              <a:t>Production Deployment, IoT Expansion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SITEGUARD ·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6EB4"/>
                </a:solidFill>
              </a:defRPr>
            </a:pPr>
            <a:r>
              <a:t>Production Deployment Pathways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0E6EB4"/>
                </a:solidFill>
              </a:defRPr>
            </a:pPr>
            <a:r>
              <a:t>• Local Host (Current MVP):</a:t>
            </a:r>
            <a:br/>
            <a:r>
              <a:rPr b="0" sz="1000">
                <a:solidFill>
                  <a:srgbClr val="64748B"/>
                </a:solidFill>
              </a:rPr>
              <a:t>   ESP32-CAM to local PC (FastAPI + YOLOv8n + SQLite WAL). Zero cloud cost, sub-50 ms latency, no internet needed.
</a:t>
            </a:r>
          </a:p>
          <a:p>
            <a:pPr>
              <a:defRPr b="1" sz="1100">
                <a:solidFill>
                  <a:srgbClr val="0E6EB4"/>
                </a:solidFill>
              </a:defRPr>
            </a:pPr>
            <a:r>
              <a:t>• Edge Gateway (Jetson Orin Nano):</a:t>
            </a:r>
            <a:br/>
            <a:r>
              <a:rPr b="0" sz="1000">
                <a:solidFill>
                  <a:srgbClr val="64748B"/>
                </a:solidFill>
              </a:rPr>
              <a:t>   Deploy TensorRT FP16/INT8 on an onsite fanless edge box handling 8+ IP RTSP streams.
</a:t>
            </a:r>
          </a:p>
          <a:p>
            <a:pPr>
              <a:defRPr b="1" sz="1100">
                <a:solidFill>
                  <a:srgbClr val="0E6EB4"/>
                </a:solidFill>
              </a:defRPr>
            </a:pPr>
            <a:r>
              <a:t>• Hybrid Cloud (AWS ECS + Triton):</a:t>
            </a:r>
            <a:br/>
            <a:r>
              <a:rPr b="0" sz="1000">
                <a:solidFill>
                  <a:srgbClr val="64748B"/>
                </a:solidFill>
              </a:rPr>
              <a:t>   Edge nodes stream to AWS ECS cluster with Triton Inference Server; long-term analytics stored on S3.
</a:t>
            </a:r>
          </a:p>
          <a:p>
            <a:pPr>
              <a:defRPr b="1" sz="1100">
                <a:solidFill>
                  <a:srgbClr val="0E6EB4"/>
                </a:solidFill>
              </a:defRPr>
            </a:pPr>
            <a:r>
              <a:t>• Containerized Docker Suite:</a:t>
            </a:r>
            <a:br/>
            <a:r>
              <a:rPr b="0" sz="1000">
                <a:solidFill>
                  <a:srgbClr val="64748B"/>
                </a:solidFill>
              </a:rPr>
              <a:t>   Docker Compose stack (fastapi-core, nginx, redis, postgres) for one-click deployment at site offices.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BF9F4"/>
          </a:solidFill>
          <a:ln w="15240">
            <a:solidFill>
              <a:srgbClr val="E2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7850"/>
                </a:solidFill>
              </a:defRPr>
            </a:pPr>
            <a:r>
              <a:t>Executive Summary &amp; 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107850"/>
                </a:solidFill>
              </a:defRPr>
            </a:pPr>
            <a:r>
              <a:t>★ Full Edge-to-Host Pipeline: </a:t>
            </a:r>
            <a:r>
              <a:rPr b="0" sz="1000">
                <a:solidFill>
                  <a:srgbClr val="64748B"/>
                </a:solidFill>
              </a:rPr>
              <a:t>Operational wireless ESP32-CAM (5 FPS) ingestion to real-time FastAPI inference engine.
</a:t>
            </a:r>
          </a:p>
          <a:p>
            <a:pPr>
              <a:defRPr b="1" sz="1100">
                <a:solidFill>
                  <a:srgbClr val="107850"/>
                </a:solidFill>
              </a:defRPr>
            </a:pPr>
            <a:r>
              <a:t>★ BoT-SORT Deep Re-ID: </a:t>
            </a:r>
            <a:r>
              <a:rPr b="0" sz="1000">
                <a:solidFill>
                  <a:srgbClr val="64748B"/>
                </a:solidFill>
              </a:rPr>
              <a:t>Appearance embeddings overcome occlusion ID swapping when workers cross paths.
</a:t>
            </a:r>
          </a:p>
          <a:p>
            <a:pPr>
              <a:defRPr b="1" sz="1100">
                <a:solidFill>
                  <a:srgbClr val="107850"/>
                </a:solidFill>
              </a:defRPr>
            </a:pPr>
            <a:r>
              <a:t>★ Zero Alert Flapping: </a:t>
            </a:r>
            <a:r>
              <a:rPr b="0" sz="1000">
                <a:solidFill>
                  <a:srgbClr val="64748B"/>
                </a:solidFill>
              </a:rPr>
              <a:t>Spatial containment (&gt;=50%) and 70/30 temporal hysteresis produce exactly one alert per violation episode.
</a:t>
            </a:r>
          </a:p>
          <a:p>
            <a:pPr>
              <a:defRPr b="1" sz="1100">
                <a:solidFill>
                  <a:srgbClr val="107850"/>
                </a:solidFill>
              </a:defRPr>
            </a:pPr>
            <a:r>
              <a:t>★ A+ Safety Grade (91.25/100): </a:t>
            </a:r>
            <a:r>
              <a:rPr b="0" sz="1000">
                <a:solidFill>
                  <a:srgbClr val="64748B"/>
                </a:solidFill>
              </a:rPr>
              <a:t>Empirically validated with sub-50 ms inference latency and 100% duplicate alert suppression.
</a:t>
            </a:r>
          </a:p>
          <a:p>
            <a:pPr>
              <a:defRPr b="1" sz="1100">
                <a:solidFill>
                  <a:srgbClr val="107850"/>
                </a:solidFill>
              </a:defRPr>
            </a:pPr>
            <a:r>
              <a:t>★ Rigorous Scientific Backing: </a:t>
            </a:r>
            <a:r>
              <a:rPr b="0" sz="1000">
                <a:solidFill>
                  <a:srgbClr val="64748B"/>
                </a:solidFill>
              </a:rPr>
              <a:t>Architecture and algorithms benchmarked against 15 seminal computer vision &amp; IoT papers.
</a:t>
            </a:r>
          </a:p>
          <a:p>
            <a:pPr algn="ctr">
              <a:defRPr sz="1400" b="1">
                <a:solidFill>
                  <a:srgbClr val="1A202C"/>
                </a:solidFill>
              </a:defRPr>
            </a:pPr>
            <a:r>
              <a:t>Thank You!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