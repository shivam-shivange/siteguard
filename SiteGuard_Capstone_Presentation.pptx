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SITEGUARD</a:t>
            </a:r>
          </a:p>
          <a:p>
            <a:pPr>
              <a:defRPr sz="2200" b="1">
                <a:solidFill>
                  <a:srgbClr val="F59E0B"/>
                </a:solidFill>
              </a:defRPr>
            </a:pPr>
            <a:r>
              <a:t>AI-Based Construction Site Worker Safety Monitoring System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Edge-IoT Ingestion • YOLOv8n Detection • BoT-SORT Deep Re-ID • Temporal Hysteresis Rule Engine</a:t>
            </a:r>
          </a:p>
          <a:p>
            <a:br/>
            <a:pPr>
              <a:defRPr sz="1200">
                <a:solidFill>
                  <a:srgbClr val="0EA5E9"/>
                </a:solidFill>
              </a:defRPr>
            </a:pPr>
            <a:r>
              <a:t>Capstone Project Technical Presentation • Local Host / Edge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CONTEXT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Construction Safety Problem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Industry Safety Hazards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Fatalities &amp; High Non-Compliance: </a:t>
            </a:r>
            <a:r>
              <a:rPr b="0">
                <a:solidFill>
                  <a:srgbClr val="94A3B8"/>
                </a:solidFill>
              </a:rPr>
              <a:t>Construction accounts for 20%+ of workplace fatalities; failure to equip hardhats and vests is the #1 citation.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Manual Monitoring Bottlenecks: </a:t>
            </a:r>
            <a:r>
              <a:rPr b="0">
                <a:solidFill>
                  <a:srgbClr val="94A3B8"/>
                </a:solidFill>
              </a:rPr>
              <a:t>Safety officers cannot monitor multiple video feeds continuously; fatigue causes missed non-compliances.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False Alarm Fatigue: </a:t>
            </a:r>
            <a:r>
              <a:rPr b="0">
                <a:solidFill>
                  <a:srgbClr val="94A3B8"/>
                </a:solidFill>
              </a:rPr>
              <a:t>Raw single-frame CV detectors trigger rapid false alarms on momentary occlusions and sensor noise.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Equipment Hazard Proximity: </a:t>
            </a:r>
            <a:r>
              <a:rPr b="0">
                <a:solidFill>
                  <a:srgbClr val="94A3B8"/>
                </a:solidFill>
              </a:rPr>
              <a:t>Ground workers traversing blind spots near heavy excavators and trucks without active spatial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SiteGuard System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✔ Autonomous Edge Ingestion: </a:t>
            </a:r>
            <a:r>
              <a:rPr b="0">
                <a:solidFill>
                  <a:srgbClr val="94A3B8"/>
                </a:solidFill>
              </a:rPr>
              <a:t>Stream low-latency QVGA/VGA frames from wireless ESP32-CAM nodes over Wi-Fi at 5 FPS.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Accurate PPE Attribution: </a:t>
            </a:r>
            <a:r>
              <a:rPr b="0">
                <a:solidFill>
                  <a:srgbClr val="94A3B8"/>
                </a:solidFill>
              </a:rPr>
              <a:t>Simultaneous detection of workers and safety gear with strict bounding-box spatial containment (IoU &gt;= 0.50).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Identity Preservation via Re-ID: </a:t>
            </a:r>
            <a:r>
              <a:rPr b="0">
                <a:solidFill>
                  <a:srgbClr val="94A3B8"/>
                </a:solidFill>
              </a:rPr>
              <a:t>Track workers across prolonged occlusions using BoT-SORT appearance embeddings and Kalman filtering.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Temporal Verification (Zero Flapping): </a:t>
            </a:r>
            <a:r>
              <a:rPr b="0">
                <a:solidFill>
                  <a:srgbClr val="94A3B8"/>
                </a:solidFill>
              </a:rPr>
              <a:t>Require 70% missing PPE persistence over a 10s sliding window before raising an incident.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Real-Time Dashboard &amp; Telemetry: </a:t>
            </a:r>
            <a:r>
              <a:rPr b="0">
                <a:solidFill>
                  <a:srgbClr val="94A3B8"/>
                </a:solidFill>
              </a:rPr>
              <a:t>Instant WebSocket broadcast, evidence snapshot recording, and SQLite WAL database logging.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Dataflow &amp; Modular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1.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ESP32-CAM / Webcams stream raw JPEG over HTTP POST at 5 FPS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0312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CIE LAB color space conversion + Luminance CLAHE enhancement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3. Vision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YOLOv8n (640x640) inference detects Person, PPE &amp; Machinery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4592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Re-ID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0312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BoT-SORT preserves worker track IDs across visual occlusions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5. Spatial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Containment algorithm assigns PPE boxes to enclosing worker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84048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023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6. Safety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805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10s sliding window (70% confirm / 30% clear) suppresses noise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4048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7. 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805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Evidence JPEG stored; SQLite WAL records incident episode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840480"/>
            <a:ext cx="25146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023360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8. WebSocket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4805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Broadcasts live worker compliance matrix &amp; alerts to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HARDWARE &amp; EDGE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ESP32-CAM IoT Node &amp; Pinout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ESP32-CAM Specifications &amp; Firmware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SoC Processor: </a:t>
            </a:r>
            <a:r>
              <a:rPr b="0">
                <a:solidFill>
                  <a:srgbClr val="94A3B8"/>
                </a:solidFill>
              </a:rPr>
              <a:t>AI-Thinker ESP32-CAM, Xtensa Dual-Core 32-bit LX6 @ 240 MHz.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Camera Sensor: </a:t>
            </a:r>
            <a:r>
              <a:rPr b="0">
                <a:solidFill>
                  <a:srgbClr val="94A3B8"/>
                </a:solidFill>
              </a:rPr>
              <a:t>Omnivision OV2640 2MP CMOS; QVGA/VGA streaming @ 5 FPS.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Memory Subsystem: </a:t>
            </a:r>
            <a:r>
              <a:rPr b="0">
                <a:solidFill>
                  <a:srgbClr val="94A3B8"/>
                </a:solidFill>
              </a:rPr>
              <a:t>520 KB internal SRAM + 4 MB external PSRAM for double buffering.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Buffer Management: </a:t>
            </a:r>
            <a:r>
              <a:rPr b="0">
                <a:solidFill>
                  <a:srgbClr val="94A3B8"/>
                </a:solidFill>
              </a:rPr>
              <a:t>config.fb_count = 2 in PSRAM with CAMERA_GRAB_LATEST mode.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HTTP Client Optimization: </a:t>
            </a:r>
            <a:r>
              <a:rPr b="0">
                <a:solidFill>
                  <a:srgbClr val="94A3B8"/>
                </a:solidFill>
              </a:rPr>
              <a:t>Persistent TCP connection with http.setReuse(true) keep-alive.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Heartbeat Telemetry: </a:t>
            </a:r>
            <a:r>
              <a:rPr b="0">
                <a:solidFill>
                  <a:srgbClr val="94A3B8"/>
                </a:solidFill>
              </a:rPr>
              <a:t>Periodic transmission of Wi-Fi RSSI, camera ID, and free heap.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AI-Thinker GPIO Hardware Interconnect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⚡ Power &amp; Reset:</a:t>
            </a:r>
            <a:br/>
            <a:r>
              <a:rPr b="0">
                <a:solidFill>
                  <a:srgbClr val="94A3B8"/>
                </a:solidFill>
              </a:rPr>
              <a:t>   PWDN -&gt; GPIO 32  |  RESET -&gt; -1 (Unused)  |  5V DC stabilized VCC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⚡ Clock Signals:</a:t>
            </a:r>
            <a:br/>
            <a:r>
              <a:rPr b="0">
                <a:solidFill>
                  <a:srgbClr val="94A3B8"/>
                </a:solidFill>
              </a:rPr>
              <a:t>   XCLK -&gt; GPIO 0 (20 MHz)  |  PCLK -&gt; GPIO 22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⚡ Sync Signals:</a:t>
            </a:r>
            <a:br/>
            <a:r>
              <a:rPr b="0">
                <a:solidFill>
                  <a:srgbClr val="94A3B8"/>
                </a:solidFill>
              </a:rPr>
              <a:t>   VSYNC -&gt; GPIO 25  |  HREF -&gt; GPIO 23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⚡ SCCB I2C Interface:</a:t>
            </a:r>
            <a:br/>
            <a:r>
              <a:rPr b="0">
                <a:solidFill>
                  <a:srgbClr val="94A3B8"/>
                </a:solidFill>
              </a:rPr>
              <a:t>   SIOD (SDA) -&gt; GPIO 26  |  SIOC (SCL) -&gt; GPIO 27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⚡ 8-Bit Parallel Bus:</a:t>
            </a:r>
            <a:br/>
            <a:r>
              <a:rPr b="0">
                <a:solidFill>
                  <a:srgbClr val="94A3B8"/>
                </a:solidFill>
              </a:rPr>
              <a:t>   Y2: GPIO 5, Y3: GPIO 18, Y4: GPIO 19, Y5: GPIO 21
Y6: GPIO 36, Y7: GPIO 39, Y8: GPIO 34, Y9: GPIO 35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⚡ Wireless RF:</a:t>
            </a:r>
            <a:br/>
            <a:r>
              <a:rPr b="0">
                <a:solidFill>
                  <a:srgbClr val="94A3B8"/>
                </a:solidFill>
              </a:rPr>
              <a:t>   802.11 b/g/n 2.4 GHz link connecting to FastAPI PC Host Server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COMPUTER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Image Preprocessing &amp; CLAHE Luminance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Color Space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CIE LAB Transformation</a:t>
            </a:r>
            <a:br/>
            <a:br/>
            <a:r>
              <a:t>• Frame decoded into BGR array.</a:t>
            </a:r>
            <a:br/>
            <a:r>
              <a:t>• Converted to CIE LAB via cv2.COLOR_BGR2LAB.</a:t>
            </a:r>
            <a:br/>
            <a:r>
              <a:t>• Separates Luminance (L-channel) from Chrominance (A &amp; B channels).</a:t>
            </a:r>
            <a:br/>
            <a:r>
              <a:t>• Preserves worker PPE color fidelity (safety orange/neon yellow) without tint distortion.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CLAHE Equalization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Adaptive Contrast Boosting</a:t>
            </a:r>
            <a:br/>
            <a:br/>
            <a:r>
              <a:t>• Applied strictly to L-channel.</a:t>
            </a:r>
            <a:br/>
            <a:r>
              <a:t>• Clip Limit = 2.0 to prevent noise overamplification.</a:t>
            </a:r>
            <a:br/>
            <a:r>
              <a:t>• Tile Grid Size = (8, 8) for localized enhancement.</a:t>
            </a:r>
            <a:br/>
            <a:r>
              <a:t>• Recovers hidden workers and PPE under harsh shadows, scaffolding backlighting, and dawn/dusk lighting.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3. Letterbox &amp;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Model Preparation</a:t>
            </a:r>
            <a:br/>
            <a:br/>
            <a:r>
              <a:t>• Converted back to BGR space.</a:t>
            </a:r>
            <a:br/>
            <a:r>
              <a:t>• Optional 3x3 Gaussian smoothing to soften JPEG compression noise.</a:t>
            </a:r>
            <a:br/>
            <a:r>
              <a:t>• Padded aspect-ratio letterboxing to 640x640.</a:t>
            </a:r>
            <a:br/>
            <a:r>
              <a:t>• Execution benchmark: &lt;4.2 ms on Ryzen 5 CPU, ensuring zero ingestion bottlenecks.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DETECTION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YOLOv8n Specifications &amp; Confidence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Model Architecture &amp;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Architecture: </a:t>
            </a:r>
            <a:r>
              <a:rPr b="0">
                <a:solidFill>
                  <a:srgbClr val="94A3B8"/>
                </a:solidFill>
              </a:rPr>
              <a:t>Ultralytics YOLOv8n (Nano) Single-Stage Anchor-Free Detector.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Model Weight File: </a:t>
            </a:r>
            <a:r>
              <a:rPr b="0">
                <a:solidFill>
                  <a:srgbClr val="94A3B8"/>
                </a:solidFill>
              </a:rPr>
              <a:t>yolov8n_v1_best.pt (~6.2 MB) / ONNX Runtime FP32.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Inference Resolution: </a:t>
            </a:r>
            <a:r>
              <a:rPr b="0">
                <a:solidFill>
                  <a:srgbClr val="94A3B8"/>
                </a:solidFill>
              </a:rPr>
              <a:t>640 × 640 pixels (optimal resolution/compute tradeoff).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Feature Extractor: </a:t>
            </a:r>
            <a:r>
              <a:rPr b="0">
                <a:solidFill>
                  <a:srgbClr val="94A3B8"/>
                </a:solidFill>
              </a:rPr>
              <a:t>Cross-Stage Partial DarkNet with Path Aggregation Network (PAN).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NMS IoU Threshold: </a:t>
            </a:r>
            <a:r>
              <a:rPr b="0">
                <a:solidFill>
                  <a:srgbClr val="94A3B8"/>
                </a:solidFill>
              </a:rPr>
              <a:t>Tighter 0.40 threshold (Ultralytics default: 0.70) suppressing duplicate person/vest bounding boxes.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Dual Runtime Support: </a:t>
            </a:r>
            <a:r>
              <a:rPr b="0">
                <a:solidFill>
                  <a:srgbClr val="94A3B8"/>
                </a:solidFill>
              </a:rPr>
              <a:t>Native PyTorch or ONNX Runtime (2–4× throughput gain on CPU).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Class Taxonomy &amp; Asymmetric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🎯 Person (Gate: 0.35):</a:t>
            </a:r>
            <a:br/>
            <a:r>
              <a:rPr b="0">
                <a:solidFill>
                  <a:srgbClr val="94A3B8"/>
                </a:solidFill>
              </a:rPr>
              <a:t>   Low threshold ensures workers are never missed even under distant or partially occluded views.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🎯 NO-Hardhat, NO-Vest, NO-Mask (Gate: 0.50):</a:t>
            </a:r>
            <a:br/>
            <a:r>
              <a:rPr b="0">
                <a:solidFill>
                  <a:srgbClr val="94A3B8"/>
                </a:solidFill>
              </a:rPr>
              <a:t>   High threshold suppresses false positive violation alerts.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🎯 Hardhat, Safety Vest, Mask (Gate: 0.40):</a:t>
            </a:r>
            <a:br/>
            <a:r>
              <a:rPr b="0">
                <a:solidFill>
                  <a:srgbClr val="94A3B8"/>
                </a:solidFill>
              </a:rPr>
              <a:t>   Balanced threshold detecting equipped safety gear reliably.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🎯 machinery &amp; vehicle (Gate: 0.45):</a:t>
            </a:r>
            <a:br/>
            <a:r>
              <a:rPr b="0">
                <a:solidFill>
                  <a:srgbClr val="94A3B8"/>
                </a:solidFill>
              </a:rPr>
              <a:t>   Localizes excavators, cranes, trucks, and forklifts on site.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🎯 Safety Cone (Gate: 0.40):</a:t>
            </a:r>
            <a:br/>
            <a:r>
              <a:rPr b="0">
                <a:solidFill>
                  <a:srgbClr val="94A3B8"/>
                </a:solidFill>
              </a:rPr>
              <a:t>   Identifies restricted physical boundary delineations.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MULTI-OBJECT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BoT-SORT Tracker with Deep Appearance Re-ID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Why Deep Re-ID is Crucial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The Kalman Filter Limit: </a:t>
            </a:r>
            <a:r>
              <a:rPr b="0">
                <a:solidFill>
                  <a:srgbClr val="94A3B8"/>
                </a:solidFill>
              </a:rPr>
              <a:t>Pure motion trackers (ByteTrack / SORT) lose tracks if workers stop moving or cross paths closely.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Visual Occlusions: </a:t>
            </a:r>
            <a:r>
              <a:rPr b="0">
                <a:solidFill>
                  <a:srgbClr val="94A3B8"/>
                </a:solidFill>
              </a:rPr>
              <a:t>Workers passing behind pillars or machinery undergo ID switching without visual feature memory.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Deep Visual Embeddings: </a:t>
            </a:r>
            <a:r>
              <a:rPr b="0">
                <a:solidFill>
                  <a:srgbClr val="94A3B8"/>
                </a:solidFill>
              </a:rPr>
              <a:t>Extracts appearance feature vectors capturing clothing, gear color, and aspect ratios.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Cosine Similarity Association: </a:t>
            </a:r>
            <a:r>
              <a:rPr b="0">
                <a:solidFill>
                  <a:srgbClr val="94A3B8"/>
                </a:solidFill>
              </a:rPr>
              <a:t>Re-identifies returning workers by matching appearance memory even after 45+ frames of total occlusion.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BoT-SORT Implementation (botsort_reid.yaml)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⚙ with_reid: True:</a:t>
            </a:r>
            <a:br/>
            <a:r>
              <a:rPr b="0">
                <a:solidFill>
                  <a:srgbClr val="94A3B8"/>
                </a:solidFill>
              </a:rPr>
              <a:t>   Enables deep appearance feature extraction per detected worker bounding box.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⚙ gmc_method: sparseOptFlow:</a:t>
            </a:r>
            <a:br/>
            <a:r>
              <a:rPr b="0">
                <a:solidFill>
                  <a:srgbClr val="94A3B8"/>
                </a:solidFill>
              </a:rPr>
              <a:t>   Global Motion Compensation computes background optical flow to cancel out camera shaking/vibration.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⚙ appearance_thresh: 0.75:</a:t>
            </a:r>
            <a:br/>
            <a:r>
              <a:rPr b="0">
                <a:solidFill>
                  <a:srgbClr val="94A3B8"/>
                </a:solidFill>
              </a:rPr>
              <a:t>   High cosine similarity threshold preventing false identity swaps between workers in similar vests.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⚙ track_buffer: 45 frames:</a:t>
            </a:r>
            <a:br/>
            <a:r>
              <a:rPr b="0">
                <a:solidFill>
                  <a:srgbClr val="94A3B8"/>
                </a:solidFill>
              </a:rPr>
              <a:t>   Maintains lost worker states alive for &gt;9 seconds at 5 FPS to reconnect re-emerging workers.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⚙ fuse_score: True:</a:t>
            </a:r>
            <a:br/>
            <a:r>
              <a:rPr b="0">
                <a:solidFill>
                  <a:srgbClr val="94A3B8"/>
                </a:solidFill>
              </a:rPr>
              <a:t>   Fuses detection confidence score with visual Re-ID cost matrix.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PPE-WORKER ASSOCIATION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Geometric Bounding Box Containment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Association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Mathematical Definition:</a:t>
            </a:r>
            <a:br/>
            <a:br/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Containment(B_PPE, B_Person) = Area(B_PPE ∩ B_Person) / Area(B_PPE)</a:t>
            </a:r>
            <a:br/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Bounding box containment requires at least 50% (PPE_CONTAINMENT_MIN = 0.50) of the PPE box to lie inside the worker box.</a:t>
            </a:r>
            <a:br/>
            <a:r>
              <a:t>• Solves the multi-worker attribution problem when two workers stand side-by-side.</a:t>
            </a:r>
            <a:br/>
            <a:r>
              <a:t>• Loose PPE detections on floors or scaffolding belonging to no worker are discarded.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Conflict Resolution &amp; Per-Worker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✔ Max-Confidence Arbitration:</a:t>
            </a:r>
            <a:br/>
            <a:r>
              <a:rPr b="0">
                <a:solidFill>
                  <a:srgbClr val="94A3B8"/>
                </a:solidFill>
              </a:rPr>
              <a:t>   If a worker has both 'Hardhat' and 'NO-Hardhat' boxes associated, the detection with the higher confidence score wins.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Worker Checklist Generation:</a:t>
            </a:r>
            <a:br/>
            <a:r>
              <a:rPr b="0">
                <a:solidFill>
                  <a:srgbClr val="94A3B8"/>
                </a:solidFill>
              </a:rPr>
              <a:t>   Produces an atomic per-worker PPE status dictionary: {'helmet': ('ok', 0.82), 'safety_vest': ('missing', 0.74)}.
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✔ Track ID Coupling:</a:t>
            </a:r>
            <a:br/>
            <a:r>
              <a:rPr b="0">
                <a:solidFill>
                  <a:srgbClr val="94A3B8"/>
                </a:solidFill>
              </a:rPr>
              <a:t>   All PPE states are bound to the worker's unique track_id, enabling historical temporal evaluation across frames.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SAFETY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Dual-Threshold Temporal Hysteresis &amp; Alert Cooldown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10-Second Sliding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Sliding Window Buffer</a:t>
            </a:r>
            <a:br/>
            <a:br/>
            <a:r>
              <a:t>• Maintains deque of observations per tracked worker.</a:t>
            </a:r>
            <a:br/>
            <a:r>
              <a:t>• Window duration: 10.0 seconds.</a:t>
            </a:r>
            <a:br/>
            <a:r>
              <a:t>• Minimum observations required: 3 frames before making any compliance verdict.</a:t>
            </a:r>
            <a:br/>
            <a:r>
              <a:t>• Worker records auto-expire after 10.0 seconds of absence from the scene.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Dual Confirmation Ratios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Hysteresis Gap</a:t>
            </a:r>
            <a:br/>
            <a:br/>
            <a:r>
              <a:t>• Confirmation Ratio: 70% (item confirmed missing only if absent in &gt;=70% of frames over window).</a:t>
            </a:r>
            <a:br/>
            <a:r>
              <a:t>• Clearance Ratio: 30% (violation cleared only when missing frames drop &lt;=30%).</a:t>
            </a:r>
            <a:br/>
            <a:r>
              <a:t>• The 40% gap completely eliminates alert flapping caused by momentary head turns or occlusion.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Single-Episode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Episode-Based Alerts</a:t>
            </a:r>
            <a:br/>
            <a:br/>
            <a:r>
              <a:t>• Exactly 1 incident created when violation begins.</a:t>
            </a:r>
            <a:br/>
            <a:r>
              <a:t>• If more items go missing (e.g. vest after helmet), existing incident updates.</a:t>
            </a:r>
            <a:br/>
            <a:r>
              <a:t>• Zero duplicate alerts during a continuous violation.</a:t>
            </a:r>
            <a:br/>
            <a:r>
              <a:t>• New alert generated only if worker clears and violates again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EVALUATION &amp;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Safety Reliability Scorecard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Composite Score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Weighted Scorecard Formula:</a:t>
            </a:r>
            <a:br/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Score = (S_det × 0.35) + (S_lat × 0.25) + (S_up × 0.20) + (S_dup × 0.20)</a:t>
            </a:r>
            <a:br/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S_det (35%): Detection precision &amp; recall on worker PPE.</a:t>
            </a:r>
            <a:br/>
            <a:r>
              <a:t>• S_lat (25%): Inference responsiveness (&lt;100 ms on CPU).</a:t>
            </a:r>
            <a:br/>
            <a:r>
              <a:t>• S_up (20%): System uptime &amp; camera heartbeat stability.</a:t>
            </a:r>
            <a:br/>
            <a:r>
              <a:t>• S_dup (20%): Duplicate suppression via episode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Operational Scorecard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★ Overall Score: </a:t>
            </a:r>
            <a:r>
              <a:rPr b="0">
                <a:solidFill>
                  <a:srgbClr val="F8FAFC"/>
                </a:solidFill>
              </a:rPr>
              <a:t>91.2 / 100 — Grade A+
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★ Detection Reliability: </a:t>
            </a:r>
            <a:r>
              <a:rPr b="0">
                <a:solidFill>
                  <a:srgbClr val="F8FAFC"/>
                </a:solidFill>
              </a:rPr>
              <a:t>85.0 / 100
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★ Latency Performance: </a:t>
            </a:r>
            <a:r>
              <a:rPr b="0">
                <a:solidFill>
                  <a:srgbClr val="F8FAFC"/>
                </a:solidFill>
              </a:rPr>
              <a:t>90.0 / 100 (Avg inference: 48.2 ms)
</a:t>
            </a:r>
          </a:p>
          <a:p>
            <a:pPr>
              <a:defRPr b="1" sz="1300">
                <a:solidFill>
                  <a:srgbClr val="F8FAFC"/>
                </a:solidFill>
              </a:defRPr>
            </a:pPr>
            <a:r>
              <a:t>★ System Uptime: </a:t>
            </a:r>
            <a:r>
              <a:rPr b="0">
                <a:solidFill>
                  <a:srgbClr val="F8FAFC"/>
                </a:solidFill>
              </a:rPr>
              <a:t>95.0 / 100 (Zero crash daemon loop)
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★ Duplicate Suppression: </a:t>
            </a:r>
            <a:r>
              <a:rPr b="0">
                <a:solidFill>
                  <a:srgbClr val="F8FAFC"/>
                </a:solidFill>
              </a:rPr>
              <a:t>100.0 / 100 (Zero duplicate incident rows)
</a:t>
            </a:r>
          </a:p>
          <a:p>
            <a:pPr>
              <a:defRPr b="1" sz="1300">
                <a:solidFill>
                  <a:srgbClr val="94A3B8"/>
                </a:solidFill>
              </a:defRPr>
            </a:pPr>
            <a:r>
              <a:t>★ Total Incidents Logged: </a:t>
            </a:r>
            <a:r>
              <a:rPr b="0">
                <a:solidFill>
                  <a:srgbClr val="F8FAFC"/>
                </a:solidFill>
              </a:rPr>
              <a:t>158 validated safety violations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LITERATURE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Benchmark Matrix: 15 Research Papers &amp; Implementation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466344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Topic / 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Scientific Justification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BoT-SORT (Aharon 2022)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Re-ID + GMC Tracking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Deep appearance vectors prevent ID swaps across occlusions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ByteTrack (Zhang 2022)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Low-Score Box Tracking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Associates weak detection boxes to bridge occlusion gaps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YOLOv8 (Jocher 2023)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Anchor-Free Detection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PAN-FPN architecture enables 50ms real-time CPU inference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CLAHE (Zuiderveld 1994)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Luminance Contrast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Boosts dark/backlit outdoor frames without color distortion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Hierarchical PPE (Fang 2018)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Spatial Containment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Two-stage containment attributes PPE strictly to worker body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Hysteresis Anomaly (Sultani 2018)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Dual-Threshold Window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Eliminates single-frame detection flickering and false alerts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Edge-Cloud IoT (Satyanarayanan 2017)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Tiered Architecture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Partitions capture nodes (ESP32) and local edge server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141E3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Machinery Zones (Ray &amp; Teizer 2012)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Struck-By Proximity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2D machinery detection active; 3D metric Euclidean distance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ROADMAP / PARTIAL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DEPLOYMENT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Production Deployment Options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Deployment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• Option 1: Local Host (Current):</a:t>
            </a:r>
            <a:br/>
            <a:r>
              <a:rPr b="0">
                <a:solidFill>
                  <a:srgbClr val="94A3B8"/>
                </a:solidFill>
              </a:rPr>
              <a:t>   PC Server (Ryzen 5 CPU) running FastAPI + YOLO + SQLite WAL. Zero cloud cost, sub-50ms latency.
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Option 2: Edge Gateway (Jetson Orin Nano):</a:t>
            </a:r>
            <a:br/>
            <a:r>
              <a:rPr b="0">
                <a:solidFill>
                  <a:srgbClr val="94A3B8"/>
                </a:solidFill>
              </a:rPr>
              <a:t>   Migrate to FP16/INT8 TensorRT on an onsite fanless edge box handling 8+ IP RTSP streams.
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Option 3: Hybrid Cloud (AWS ECS / Triton):</a:t>
            </a:r>
            <a:br/>
            <a:r>
              <a:rPr b="0">
                <a:solidFill>
                  <a:srgbClr val="94A3B8"/>
                </a:solidFill>
              </a:rPr>
              <a:t>   Centralized multi-site oversight across nationwide construction projects with cold-storage analytics on S3.
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Option 4: Containerized On-Premise Suite:</a:t>
            </a:r>
            <a:br/>
            <a:r>
              <a:rPr b="0">
                <a:solidFill>
                  <a:srgbClr val="94A3B8"/>
                </a:solidFill>
              </a:rPr>
              <a:t>   Docker Compose bundle (fastapi-core, nginx, redis, postgres) for plug-and-play onsite setup.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Roadmap &amp; Future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🚀 3D Metric Proximity Zones:</a:t>
            </a:r>
            <a:br/>
            <a:r>
              <a:rPr b="0">
                <a:solidFill>
                  <a:srgbClr val="94A3B8"/>
                </a:solidFill>
              </a:rPr>
              <a:t>   Calculate Euclidean ground distances using calibrated pinhole camera homography rather than 2D bounding boxes.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🚀 On-Node TinyML Filtering:</a:t>
            </a:r>
            <a:br/>
            <a:r>
              <a:rPr b="0">
                <a:solidFill>
                  <a:srgbClr val="94A3B8"/>
                </a:solidFill>
              </a:rPr>
              <a:t>   Deploy a quantized person-presence wake-up detector directly on ESP32 before network transmission.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🚀 Skeleton Pose Estimation:</a:t>
            </a:r>
            <a:br/>
            <a:r>
              <a:rPr b="0">
                <a:solidFill>
                  <a:srgbClr val="94A3B8"/>
                </a:solidFill>
              </a:rPr>
              <a:t>   Integrate YOLOv8-pose to classify slips, trips, falls from height, and ergonomic risk factors.
</a:t>
            </a:r>
          </a:p>
          <a:p>
            <a:pPr>
              <a:defRPr b="1" sz="1200">
                <a:solidFill>
                  <a:srgbClr val="F59E0B"/>
                </a:solidFill>
              </a:defRPr>
            </a:pPr>
            <a:r>
              <a:t>🚀 Bi-Directional IoT Actuation:</a:t>
            </a:r>
            <a:br/>
            <a:r>
              <a:rPr b="0">
                <a:solidFill>
                  <a:srgbClr val="94A3B8"/>
                </a:solidFill>
              </a:rPr>
              <a:t>   Reverse HTTP/MQTT commands triggering sirens and strobe LEDs on ESP32 GPIO 4 during critical violations.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SiteGuard: Summary of Achievements</a:t>
            </a:r>
          </a:p>
          <a:p>
            <a:pPr algn="ctr">
              <a:defRPr sz="1300">
                <a:solidFill>
                  <a:srgbClr val="0EA5E9"/>
                </a:solidFill>
              </a:defRPr>
            </a:pPr>
            <a:r>
              <a:t>✓  End-to-End Edge-to-Host Pipeline with ESP32-CAM (5 FPS) and FastAPI Backend</a:t>
            </a:r>
          </a:p>
          <a:p>
            <a:pPr algn="ctr">
              <a:defRPr sz="1300">
                <a:solidFill>
                  <a:srgbClr val="0EA5E9"/>
                </a:solidFill>
              </a:defRPr>
            </a:pPr>
            <a:r>
              <a:t>✓  YOLOv8n + BoT-SORT Deep Appearance Re-ID resolving visual occlusion ID swaps</a:t>
            </a:r>
          </a:p>
          <a:p>
            <a:pPr algn="ctr">
              <a:defRPr sz="1300">
                <a:solidFill>
                  <a:srgbClr val="0EA5E9"/>
                </a:solidFill>
              </a:defRPr>
            </a:pPr>
            <a:r>
              <a:t>✓  Spatial Containment (IoU &gt;= 0.50) with Dual-Threshold Temporal Hysteresis (70%/30%)</a:t>
            </a:r>
          </a:p>
          <a:p>
            <a:pPr algn="ctr">
              <a:defRPr sz="1300">
                <a:solidFill>
                  <a:srgbClr val="0EA5E9"/>
                </a:solidFill>
              </a:defRPr>
            </a:pPr>
            <a:r>
              <a:t>✓  Validated 91.2/100 Safety Score (Grade A+) with Zero Duplicate Incident Flapping</a:t>
            </a:r>
          </a:p>
          <a:p>
            <a:pPr algn="ctr">
              <a:defRPr sz="1300">
                <a:solidFill>
                  <a:srgbClr val="0EA5E9"/>
                </a:solidFill>
              </a:defRPr>
            </a:pPr>
            <a:r>
              <a:t>✓  Rigorous Benchmark of 15 Research Papers Supporting All Architectural Choices</a:t>
            </a:r>
          </a:p>
          <a:p>
            <a:br/>
            <a:pPr algn="ctr">
              <a:defRPr sz="1800" b="1">
                <a:solidFill>
                  <a:srgbClr val="F59E0B"/>
                </a:solidFill>
              </a:defRPr>
            </a:pPr>
            <a:r>
              <a:t>Thank You!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